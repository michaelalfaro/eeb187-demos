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657600"/>
          </a:xfrm>
          <a:prstGeom prst="rect">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0"/>
            <a:ext cx="4572000" cy="1371600"/>
          </a:xfrm>
          <a:prstGeom prst="rect">
            <a:avLst/>
          </a:prstGeom>
          <a:noFill/>
        </p:spPr>
        <p:txBody>
          <a:bodyPr wrap="square" tIns="91440" bIns="91440">
            <a:spAutoFit/>
          </a:bodyPr>
          <a:lstStyle/>
          <a:p>
            <a:pPr algn="l"/>
            <a:r>
              <a:rPr sz="2400" b="0" i="0">
                <a:solidFill>
                  <a:srgbClr val="FFFFFF"/>
                </a:solidFill>
                <a:latin typeface="Calibri"/>
              </a:rPr>
              <a:t>[UCLA LOGO]</a:t>
            </a:r>
          </a:p>
        </p:txBody>
      </p:sp>
      <p:sp>
        <p:nvSpPr>
          <p:cNvPr id="4" name="TextBox 3"/>
          <p:cNvSpPr txBox="1"/>
          <p:nvPr/>
        </p:nvSpPr>
        <p:spPr>
          <a:xfrm>
            <a:off x="5486400" y="365760"/>
            <a:ext cx="32918400" cy="1463040"/>
          </a:xfrm>
          <a:prstGeom prst="rect">
            <a:avLst/>
          </a:prstGeom>
          <a:noFill/>
        </p:spPr>
        <p:txBody>
          <a:bodyPr wrap="square" tIns="91440" bIns="91440">
            <a:spAutoFit/>
          </a:bodyPr>
          <a:lstStyle/>
          <a:p>
            <a:pPr algn="ctr"/>
            <a:r>
              <a:rPr sz="7200" b="1" i="0">
                <a:solidFill>
                  <a:srgbClr val="FFFFFF"/>
                </a:solidFill>
                <a:latin typeface="Calibri"/>
              </a:rPr>
              <a:t>Butterflyfish Color Patterns Show Phylogenetic Structure and Weak Ecological Prediction</a:t>
            </a:r>
          </a:p>
        </p:txBody>
      </p:sp>
      <p:sp>
        <p:nvSpPr>
          <p:cNvPr id="5" name="TextBox 4"/>
          <p:cNvSpPr txBox="1"/>
          <p:nvPr/>
        </p:nvSpPr>
        <p:spPr>
          <a:xfrm>
            <a:off x="5486400" y="1828800"/>
            <a:ext cx="32918400" cy="640080"/>
          </a:xfrm>
          <a:prstGeom prst="rect">
            <a:avLst/>
          </a:prstGeom>
          <a:noFill/>
        </p:spPr>
        <p:txBody>
          <a:bodyPr wrap="square" tIns="91440" bIns="91440">
            <a:spAutoFit/>
          </a:bodyPr>
          <a:lstStyle/>
          <a:p>
            <a:pPr algn="ctr"/>
            <a:r>
              <a:rPr sz="3600" b="0" i="0">
                <a:solidFill>
                  <a:srgbClr val="FFFFFF"/>
                </a:solidFill>
                <a:latin typeface="Calibri"/>
              </a:rPr>
              <a:t>[Student Names], Michael E. Alfaro</a:t>
            </a:r>
          </a:p>
        </p:txBody>
      </p:sp>
      <p:sp>
        <p:nvSpPr>
          <p:cNvPr id="6" name="TextBox 5"/>
          <p:cNvSpPr txBox="1"/>
          <p:nvPr/>
        </p:nvSpPr>
        <p:spPr>
          <a:xfrm>
            <a:off x="5486400" y="2468880"/>
            <a:ext cx="32918400" cy="548640"/>
          </a:xfrm>
          <a:prstGeom prst="rect">
            <a:avLst/>
          </a:prstGeom>
          <a:noFill/>
        </p:spPr>
        <p:txBody>
          <a:bodyPr wrap="square" tIns="91440" bIns="91440">
            <a:spAutoFit/>
          </a:bodyPr>
          <a:lstStyle/>
          <a:p>
            <a:pPr algn="ctr"/>
            <a:r>
              <a:rPr sz="2400" b="0" i="1">
                <a:solidFill>
                  <a:srgbClr val="FFFFFF"/>
                </a:solidFill>
                <a:latin typeface="Calibri"/>
              </a:rPr>
              <a:t>Department of Ecology and Evolutionary Biology · University of California, Los Angeles</a:t>
            </a:r>
          </a:p>
        </p:txBody>
      </p:sp>
      <p:sp>
        <p:nvSpPr>
          <p:cNvPr id="7" name="TextBox 6"/>
          <p:cNvSpPr txBox="1"/>
          <p:nvPr/>
        </p:nvSpPr>
        <p:spPr>
          <a:xfrm>
            <a:off x="38404800" y="1097280"/>
            <a:ext cx="5029200" cy="1371600"/>
          </a:xfrm>
          <a:prstGeom prst="rect">
            <a:avLst/>
          </a:prstGeom>
          <a:noFill/>
        </p:spPr>
        <p:txBody>
          <a:bodyPr wrap="square" tIns="91440" bIns="91440">
            <a:spAutoFit/>
          </a:bodyPr>
          <a:lstStyle/>
          <a:p>
            <a:pPr algn="r"/>
            <a:r>
              <a:rPr sz="2400" b="0" i="0">
                <a:solidFill>
                  <a:srgbClr val="FFFFFF"/>
                </a:solidFill>
                <a:latin typeface="Calibri"/>
              </a:rPr>
              <a:t>[EEB 187 · Spring 2026]</a:t>
            </a:r>
          </a:p>
        </p:txBody>
      </p:sp>
      <p:sp>
        <p:nvSpPr>
          <p:cNvPr id="8" name="Rectangle 7"/>
          <p:cNvSpPr/>
          <p:nvPr/>
        </p:nvSpPr>
        <p:spPr>
          <a:xfrm>
            <a:off x="0" y="3657600"/>
            <a:ext cx="43891200" cy="13716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4389120"/>
            <a:ext cx="11887200" cy="548640"/>
          </a:xfrm>
          <a:prstGeom prst="rect">
            <a:avLst/>
          </a:prstGeom>
          <a:noFill/>
        </p:spPr>
        <p:txBody>
          <a:bodyPr wrap="square" lIns="0" rIns="0" tIns="0" bIns="0">
            <a:spAutoFit/>
          </a:bodyPr>
          <a:lstStyle/>
          <a:p>
            <a:pPr algn="l"/>
            <a:r>
              <a:rPr sz="3600" b="1" i="0">
                <a:solidFill>
                  <a:srgbClr val="003B5C"/>
                </a:solidFill>
                <a:latin typeface="Calibri"/>
              </a:rPr>
              <a:t>INTRODUCTION</a:t>
            </a:r>
          </a:p>
        </p:txBody>
      </p:sp>
      <p:sp>
        <p:nvSpPr>
          <p:cNvPr id="10" name="Rectangle 9"/>
          <p:cNvSpPr/>
          <p:nvPr/>
        </p:nvSpPr>
        <p:spPr>
          <a:xfrm>
            <a:off x="685800" y="4892040"/>
            <a:ext cx="118872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074920"/>
            <a:ext cx="11887200" cy="7315200"/>
          </a:xfrm>
          <a:prstGeom prst="rect">
            <a:avLst/>
          </a:prstGeom>
          <a:solidFill>
            <a:srgbClr val="FFFFFF"/>
          </a:solidFill>
          <a:ln w="12700">
            <a:solidFill>
              <a:srgbClr val="CCCCCC"/>
            </a:solidFill>
          </a:ln>
        </p:spPr>
        <p:txBody>
          <a:bodyPr wrap="square" lIns="137160" rIns="137160" tIns="137160" bIns="137160">
            <a:spAutoFit/>
          </a:bodyPr>
          <a:lstStyle/>
          <a:p>
            <a:pPr algn="l"/>
            <a:r>
              <a:rPr sz="2400" b="0" i="0">
                <a:solidFill>
                  <a:srgbClr val="333333"/>
                </a:solidFill>
                <a:latin typeface="Calibri"/>
              </a:rPr>
              <a:t>• Butterflyfishes (Chaetodontidae, ~130 species) display striking diversity in stripe patterns, eyespots, and body coloration on coral reefs.</a:t>
            </a:r>
          </a:p>
          <a:p>
            <a:pPr algn="l">
              <a:spcBef>
                <a:spcPts val="600"/>
              </a:spcBef>
            </a:pPr>
            <a:r>
              <a:rPr sz="2400" b="0" i="0">
                <a:solidFill>
                  <a:srgbClr val="333333"/>
                </a:solidFill>
                <a:latin typeface="Calibri"/>
              </a:rPr>
              <a:t>• Color patterns may serve species recognition, predator deterrence, or camouflage, but the evolutionary drivers remain poorly understood.</a:t>
            </a:r>
          </a:p>
          <a:p>
            <a:pPr algn="l">
              <a:spcBef>
                <a:spcPts val="600"/>
              </a:spcBef>
            </a:pPr>
            <a:r>
              <a:rPr sz="2400" b="0" i="0">
                <a:solidFill>
                  <a:srgbClr val="333333"/>
                </a:solidFill>
                <a:latin typeface="Calibri"/>
              </a:rPr>
              <a:t>• We quantified color patterns with digital image analysis (pavo) and tested for phylogenetic structure and ecological prediction using comparative methods. 130 exemplar images were analyzed; 109 species were retained after matching to the time-calibrated phylogeny.</a:t>
            </a:r>
          </a:p>
        </p:txBody>
      </p:sp>
      <p:sp>
        <p:nvSpPr>
          <p:cNvPr id="12" name="TextBox 11"/>
          <p:cNvSpPr txBox="1"/>
          <p:nvPr/>
        </p:nvSpPr>
        <p:spPr>
          <a:xfrm>
            <a:off x="685800" y="12527280"/>
            <a:ext cx="11887200" cy="548640"/>
          </a:xfrm>
          <a:prstGeom prst="rect">
            <a:avLst/>
          </a:prstGeom>
          <a:noFill/>
        </p:spPr>
        <p:txBody>
          <a:bodyPr wrap="square" lIns="0" rIns="0" tIns="0" bIns="0">
            <a:spAutoFit/>
          </a:bodyPr>
          <a:lstStyle/>
          <a:p>
            <a:pPr algn="l"/>
            <a:r>
              <a:rPr sz="3600" b="1" i="0">
                <a:solidFill>
                  <a:srgbClr val="003B5C"/>
                </a:solidFill>
                <a:latin typeface="Calibri"/>
              </a:rPr>
              <a:t>RESEARCH QUESTION</a:t>
            </a:r>
          </a:p>
        </p:txBody>
      </p:sp>
      <p:sp>
        <p:nvSpPr>
          <p:cNvPr id="13" name="Rectangle 12"/>
          <p:cNvSpPr/>
          <p:nvPr/>
        </p:nvSpPr>
        <p:spPr>
          <a:xfrm>
            <a:off x="685800" y="13030200"/>
            <a:ext cx="118872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13213080"/>
            <a:ext cx="109728" cy="22860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13213080"/>
            <a:ext cx="11722608" cy="2286000"/>
          </a:xfrm>
          <a:prstGeom prst="rect">
            <a:avLst/>
          </a:prstGeom>
          <a:solidFill>
            <a:srgbClr val="FFFFFF"/>
          </a:solidFill>
          <a:ln w="12700">
            <a:solidFill>
              <a:srgbClr val="CCCCCC"/>
            </a:solidFill>
          </a:ln>
        </p:spPr>
        <p:txBody>
          <a:bodyPr wrap="square" lIns="137160" rIns="137160" tIns="137160" bIns="137160">
            <a:spAutoFit/>
          </a:bodyPr>
          <a:lstStyle/>
          <a:p>
            <a:pPr algn="l"/>
            <a:r>
              <a:rPr sz="2800" b="1" i="0">
                <a:solidFill>
                  <a:srgbClr val="333333"/>
                </a:solidFill>
                <a:latin typeface="Calibri"/>
              </a:rPr>
              <a:t>Does color-pattern diversity in butterflyfishes show phylogenetic signal, and do ecological traits (trophic level, body size) predict color-pattern variation after controlling for shared ancestry?</a:t>
            </a:r>
          </a:p>
        </p:txBody>
      </p:sp>
      <p:sp>
        <p:nvSpPr>
          <p:cNvPr id="16" name="TextBox 15"/>
          <p:cNvSpPr txBox="1"/>
          <p:nvPr/>
        </p:nvSpPr>
        <p:spPr>
          <a:xfrm>
            <a:off x="685800" y="15636240"/>
            <a:ext cx="11887200" cy="548640"/>
          </a:xfrm>
          <a:prstGeom prst="rect">
            <a:avLst/>
          </a:prstGeom>
          <a:noFill/>
        </p:spPr>
        <p:txBody>
          <a:bodyPr wrap="square" lIns="0" rIns="0" tIns="0" bIns="0">
            <a:spAutoFit/>
          </a:bodyPr>
          <a:lstStyle/>
          <a:p>
            <a:pPr algn="l"/>
            <a:r>
              <a:rPr sz="3600" b="1" i="0">
                <a:solidFill>
                  <a:srgbClr val="003B5C"/>
                </a:solidFill>
                <a:latin typeface="Calibri"/>
              </a:rPr>
              <a:t>HYPOTHESIS</a:t>
            </a:r>
          </a:p>
        </p:txBody>
      </p:sp>
      <p:sp>
        <p:nvSpPr>
          <p:cNvPr id="17" name="Rectangle 16"/>
          <p:cNvSpPr/>
          <p:nvPr/>
        </p:nvSpPr>
        <p:spPr>
          <a:xfrm>
            <a:off x="685800" y="16139160"/>
            <a:ext cx="118872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16322040"/>
            <a:ext cx="11887200" cy="2743200"/>
          </a:xfrm>
          <a:prstGeom prst="rect">
            <a:avLst/>
          </a:prstGeom>
          <a:solidFill>
            <a:srgbClr val="FFFFFF"/>
          </a:solidFill>
          <a:ln w="12700">
            <a:solidFill>
              <a:srgbClr val="CCCCCC"/>
            </a:solidFill>
          </a:ln>
        </p:spPr>
        <p:txBody>
          <a:bodyPr wrap="square" lIns="137160" rIns="137160" tIns="137160" bIns="137160">
            <a:spAutoFit/>
          </a:bodyPr>
          <a:lstStyle/>
          <a:p>
            <a:pPr algn="l"/>
            <a:r>
              <a:rPr sz="2400" b="0" i="0">
                <a:solidFill>
                  <a:srgbClr val="333333"/>
                </a:solidFill>
                <a:latin typeface="Calibri"/>
              </a:rPr>
              <a:t>If color-pattern diversity is shaped by ecological selective pressures, we predict: (1) moderate phylogenetic signal (K &lt; 1), indicating evolutionary lability rather than strict phylogenetic conservatism; (2) significant PGLS relationships between color-pattern PC axes and trophic level or body size; and (3) convergent color patterns among ecologically similar species regardless of phylogenetic position.</a:t>
            </a:r>
          </a:p>
        </p:txBody>
      </p:sp>
      <p:sp>
        <p:nvSpPr>
          <p:cNvPr id="19" name="TextBox 18"/>
          <p:cNvSpPr txBox="1"/>
          <p:nvPr/>
        </p:nvSpPr>
        <p:spPr>
          <a:xfrm>
            <a:off x="685800" y="19202400"/>
            <a:ext cx="11887200" cy="548640"/>
          </a:xfrm>
          <a:prstGeom prst="rect">
            <a:avLst/>
          </a:prstGeom>
          <a:noFill/>
        </p:spPr>
        <p:txBody>
          <a:bodyPr wrap="square" lIns="0" rIns="0" tIns="0" bIns="0">
            <a:spAutoFit/>
          </a:bodyPr>
          <a:lstStyle/>
          <a:p>
            <a:pPr algn="l"/>
            <a:r>
              <a:rPr sz="3600" b="1" i="0">
                <a:solidFill>
                  <a:srgbClr val="003B5C"/>
                </a:solidFill>
                <a:latin typeface="Calibri"/>
              </a:rPr>
              <a:t>METHODS</a:t>
            </a:r>
          </a:p>
        </p:txBody>
      </p:sp>
      <p:sp>
        <p:nvSpPr>
          <p:cNvPr id="20" name="Rectangle 19"/>
          <p:cNvSpPr/>
          <p:nvPr/>
        </p:nvSpPr>
        <p:spPr>
          <a:xfrm>
            <a:off x="685800" y="19705320"/>
            <a:ext cx="118872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19888200"/>
            <a:ext cx="11887200" cy="7315200"/>
          </a:xfrm>
          <a:prstGeom prst="rect">
            <a:avLst/>
          </a:prstGeom>
          <a:solidFill>
            <a:srgbClr val="FFFFFF"/>
          </a:solidFill>
          <a:ln w="12700">
            <a:solidFill>
              <a:srgbClr val="CCCCCC"/>
            </a:solidFill>
          </a:ln>
        </p:spPr>
        <p:txBody>
          <a:bodyPr wrap="square" lIns="137160" rIns="137160" tIns="137160" bIns="137160">
            <a:spAutoFit/>
          </a:bodyPr>
          <a:lstStyle/>
          <a:p>
            <a:pPr algn="l"/>
            <a:r>
              <a:rPr sz="2400" b="0" i="0">
                <a:solidFill>
                  <a:srgbClr val="333333"/>
                </a:solidFill>
                <a:latin typeface="Calibri"/>
              </a:rPr>
              <a:t>• 130 exemplar images analyzed with pavo; 109 species matched to tree</a:t>
            </a:r>
          </a:p>
          <a:p>
            <a:pPr algn="l">
              <a:spcBef>
                <a:spcPts val="600"/>
              </a:spcBef>
            </a:pPr>
            <a:r>
              <a:rPr sz="2400" b="0" i="0">
                <a:solidFill>
                  <a:srgbClr val="333333"/>
                </a:solidFill>
                <a:latin typeface="Calibri"/>
              </a:rPr>
              <a:t>• PhyloPCA reduced 10 adjacency metrics to orthogonal axes (PC1: 39.5%, PC2: 19.2%)</a:t>
            </a:r>
          </a:p>
          <a:p>
            <a:pPr algn="l">
              <a:spcBef>
                <a:spcPts val="600"/>
              </a:spcBef>
            </a:pPr>
            <a:r>
              <a:rPr sz="2400" b="0" i="0">
                <a:solidFill>
                  <a:srgbClr val="333333"/>
                </a:solidFill>
                <a:latin typeface="Calibri"/>
              </a:rPr>
              <a:t>• Blomberg’s K assessed phylogenetic signal per PC axis</a:t>
            </a:r>
          </a:p>
          <a:p>
            <a:pPr algn="l">
              <a:spcBef>
                <a:spcPts val="600"/>
              </a:spcBef>
            </a:pPr>
            <a:r>
              <a:rPr sz="2400" b="0" i="0">
                <a:solidFill>
                  <a:srgbClr val="333333"/>
                </a:solidFill>
                <a:latin typeface="Calibri"/>
              </a:rPr>
              <a:t>• PGLS (nlme::gls, Pagel’s λ) tested PC1/PC2 vs trophic level + body size</a:t>
            </a:r>
          </a:p>
          <a:p>
            <a:pPr algn="l">
              <a:spcBef>
                <a:spcPts val="600"/>
              </a:spcBef>
            </a:pPr>
            <a:r>
              <a:rPr sz="2400" b="0" i="0">
                <a:solidFill>
                  <a:srgbClr val="333333"/>
                </a:solidFill>
                <a:latin typeface="Calibri"/>
              </a:rPr>
              <a:t>• 109-tip chronogram from Alfaro et al. (2019)</a:t>
            </a:r>
          </a:p>
        </p:txBody>
      </p:sp>
      <p:sp>
        <p:nvSpPr>
          <p:cNvPr id="22" name="TextBox 21"/>
          <p:cNvSpPr txBox="1"/>
          <p:nvPr/>
        </p:nvSpPr>
        <p:spPr>
          <a:xfrm>
            <a:off x="13258800" y="4389120"/>
            <a:ext cx="18288000" cy="548640"/>
          </a:xfrm>
          <a:prstGeom prst="rect">
            <a:avLst/>
          </a:prstGeom>
          <a:noFill/>
        </p:spPr>
        <p:txBody>
          <a:bodyPr wrap="square" lIns="0" rIns="0" tIns="0" bIns="0">
            <a:spAutoFit/>
          </a:bodyPr>
          <a:lstStyle/>
          <a:p>
            <a:pPr algn="l"/>
            <a:r>
              <a:rPr sz="3600" b="1" i="0">
                <a:solidFill>
                  <a:srgbClr val="003B5C"/>
                </a:solidFill>
                <a:latin typeface="Calibri"/>
              </a:rPr>
              <a:t>RESULTS</a:t>
            </a:r>
          </a:p>
        </p:txBody>
      </p:sp>
      <p:sp>
        <p:nvSpPr>
          <p:cNvPr id="23" name="Rectangle 22"/>
          <p:cNvSpPr/>
          <p:nvPr/>
        </p:nvSpPr>
        <p:spPr>
          <a:xfrm>
            <a:off x="13258800" y="4892040"/>
            <a:ext cx="182880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350240" y="5166359"/>
            <a:ext cx="1645920" cy="365760"/>
          </a:xfrm>
          <a:prstGeom prst="rect">
            <a:avLst/>
          </a:prstGeom>
          <a:noFill/>
        </p:spPr>
        <p:txBody>
          <a:bodyPr wrap="square" lIns="45720" rIns="45720">
            <a:spAutoFit/>
          </a:bodyPr>
          <a:lstStyle/>
          <a:p>
            <a:pPr algn="l"/>
            <a:r>
              <a:rPr sz="1800" b="1" i="0">
                <a:solidFill>
                  <a:srgbClr val="003B5C"/>
                </a:solidFill>
                <a:latin typeface="Calibri"/>
              </a:rPr>
              <a:t>PANEL A</a:t>
            </a:r>
          </a:p>
        </p:txBody>
      </p:sp>
      <p:sp>
        <p:nvSpPr>
          <p:cNvPr id="27" name="TextBox 26"/>
          <p:cNvSpPr txBox="1"/>
          <p:nvPr/>
        </p:nvSpPr>
        <p:spPr>
          <a:xfrm>
            <a:off x="13258800" y="12481560"/>
            <a:ext cx="8229600" cy="457200"/>
          </a:xfrm>
          <a:prstGeom prst="rect">
            <a:avLst/>
          </a:prstGeom>
          <a:noFill/>
        </p:spPr>
        <p:txBody>
          <a:bodyPr wrap="square" lIns="45720" rIns="45720">
            <a:spAutoFit/>
          </a:bodyPr>
          <a:lstStyle/>
          <a:p>
            <a:pPr algn="l"/>
            <a:r>
              <a:rPr sz="2000" b="0" i="1">
                <a:solidFill>
                  <a:srgbClr val="333333"/>
                </a:solidFill>
                <a:latin typeface="Calibri"/>
              </a:rPr>
              <a:t>Figure 1. Color gamut of Chaetodontidae in RGB color space. Each point represents a color cluster center from one species’ exemplar image. The convex hull encloses the family’s occupied color volume.</a:t>
            </a:r>
          </a:p>
        </p:txBody>
      </p:sp>
      <p:sp>
        <p:nvSpPr>
          <p:cNvPr id="29" name="TextBox 28"/>
          <p:cNvSpPr txBox="1"/>
          <p:nvPr/>
        </p:nvSpPr>
        <p:spPr>
          <a:xfrm>
            <a:off x="22494240" y="5166359"/>
            <a:ext cx="1645920" cy="365760"/>
          </a:xfrm>
          <a:prstGeom prst="rect">
            <a:avLst/>
          </a:prstGeom>
          <a:noFill/>
        </p:spPr>
        <p:txBody>
          <a:bodyPr wrap="square" lIns="45720" rIns="45720">
            <a:spAutoFit/>
          </a:bodyPr>
          <a:lstStyle/>
          <a:p>
            <a:pPr algn="l"/>
            <a:r>
              <a:rPr sz="1800" b="1" i="0">
                <a:solidFill>
                  <a:srgbClr val="003B5C"/>
                </a:solidFill>
                <a:latin typeface="Calibri"/>
              </a:rPr>
              <a:t>PANEL B</a:t>
            </a:r>
          </a:p>
        </p:txBody>
      </p:sp>
      <p:sp>
        <p:nvSpPr>
          <p:cNvPr id="31" name="TextBox 30"/>
          <p:cNvSpPr txBox="1"/>
          <p:nvPr/>
        </p:nvSpPr>
        <p:spPr>
          <a:xfrm>
            <a:off x="22402800" y="12481560"/>
            <a:ext cx="9144000" cy="457200"/>
          </a:xfrm>
          <a:prstGeom prst="rect">
            <a:avLst/>
          </a:prstGeom>
          <a:noFill/>
        </p:spPr>
        <p:txBody>
          <a:bodyPr wrap="square" lIns="45720" rIns="45720">
            <a:spAutoFit/>
          </a:bodyPr>
          <a:lstStyle/>
          <a:p>
            <a:pPr algn="l"/>
            <a:r>
              <a:rPr sz="2000" b="0" i="1">
                <a:solidFill>
                  <a:srgbClr val="333333"/>
                </a:solidFill>
                <a:latin typeface="Calibri"/>
              </a:rPr>
              <a:t>Figure 2. Phylomorphospace of 109 butterflyfish species in PhyloPC1 × PhyloPC2 space. Tips are plotted as exemplar images; gray lines connect species through Brownian-motion reconstructed ancestral nodes. PC1 (39.5%) loads on pattern transition metrics; PC2 (19.2%) loads on color diversity.</a:t>
            </a:r>
          </a:p>
        </p:txBody>
      </p:sp>
      <p:sp>
        <p:nvSpPr>
          <p:cNvPr id="33" name="TextBox 32"/>
          <p:cNvSpPr txBox="1"/>
          <p:nvPr/>
        </p:nvSpPr>
        <p:spPr>
          <a:xfrm>
            <a:off x="13807440" y="13304520"/>
            <a:ext cx="1645920" cy="365760"/>
          </a:xfrm>
          <a:prstGeom prst="rect">
            <a:avLst/>
          </a:prstGeom>
          <a:noFill/>
        </p:spPr>
        <p:txBody>
          <a:bodyPr wrap="square" lIns="45720" rIns="45720">
            <a:spAutoFit/>
          </a:bodyPr>
          <a:lstStyle/>
          <a:p>
            <a:pPr algn="l"/>
            <a:r>
              <a:rPr sz="1800" b="1" i="0">
                <a:solidFill>
                  <a:srgbClr val="003B5C"/>
                </a:solidFill>
                <a:latin typeface="Calibri"/>
              </a:rPr>
              <a:t>PANEL C</a:t>
            </a:r>
          </a:p>
        </p:txBody>
      </p:sp>
      <p:sp>
        <p:nvSpPr>
          <p:cNvPr id="35" name="TextBox 34"/>
          <p:cNvSpPr txBox="1"/>
          <p:nvPr/>
        </p:nvSpPr>
        <p:spPr>
          <a:xfrm>
            <a:off x="13716000" y="25191720"/>
            <a:ext cx="17373600" cy="457200"/>
          </a:xfrm>
          <a:prstGeom prst="rect">
            <a:avLst/>
          </a:prstGeom>
          <a:noFill/>
        </p:spPr>
        <p:txBody>
          <a:bodyPr wrap="square" lIns="45720" rIns="45720">
            <a:spAutoFit/>
          </a:bodyPr>
          <a:lstStyle/>
          <a:p>
            <a:pPr algn="l"/>
            <a:r>
              <a:rPr sz="2000" b="0" i="1">
                <a:solidFill>
                  <a:srgbClr val="333333"/>
                </a:solidFill>
                <a:latin typeface="Calibri"/>
              </a:rPr>
              <a:t>Figure 3. Time-calibrated phylogeny of Chaetodontidae with PC1 ancestral state reconstruction mapped on branches. Tip images shown for every other species. Columns to the right show PC1, PC2, PC3 scores (diverging palette), trophic level, and body size (sequential palette).</a:t>
            </a:r>
          </a:p>
        </p:txBody>
      </p:sp>
      <p:sp>
        <p:nvSpPr>
          <p:cNvPr id="37" name="TextBox 36"/>
          <p:cNvSpPr txBox="1"/>
          <p:nvPr/>
        </p:nvSpPr>
        <p:spPr>
          <a:xfrm>
            <a:off x="32324040" y="4480559"/>
            <a:ext cx="1645920" cy="365760"/>
          </a:xfrm>
          <a:prstGeom prst="rect">
            <a:avLst/>
          </a:prstGeom>
          <a:noFill/>
        </p:spPr>
        <p:txBody>
          <a:bodyPr wrap="square" lIns="45720" rIns="45720">
            <a:spAutoFit/>
          </a:bodyPr>
          <a:lstStyle/>
          <a:p>
            <a:pPr algn="l"/>
            <a:r>
              <a:rPr sz="1800" b="1" i="0">
                <a:solidFill>
                  <a:srgbClr val="003B5C"/>
                </a:solidFill>
                <a:latin typeface="Calibri"/>
              </a:rPr>
              <a:t>PANEL D</a:t>
            </a:r>
          </a:p>
        </p:txBody>
      </p:sp>
      <p:sp>
        <p:nvSpPr>
          <p:cNvPr id="39" name="TextBox 38"/>
          <p:cNvSpPr txBox="1"/>
          <p:nvPr/>
        </p:nvSpPr>
        <p:spPr>
          <a:xfrm>
            <a:off x="32232600" y="11795760"/>
            <a:ext cx="10972800" cy="457200"/>
          </a:xfrm>
          <a:prstGeom prst="rect">
            <a:avLst/>
          </a:prstGeom>
          <a:noFill/>
        </p:spPr>
        <p:txBody>
          <a:bodyPr wrap="square" lIns="45720" rIns="45720">
            <a:spAutoFit/>
          </a:bodyPr>
          <a:lstStyle/>
          <a:p>
            <a:pPr algn="l"/>
            <a:r>
              <a:rPr sz="2000" b="0" i="1">
                <a:solidFill>
                  <a:srgbClr val="333333"/>
                </a:solidFill>
                <a:latin typeface="Calibri"/>
              </a:rPr>
              <a:t>Figure 4. PGLS partial-residual scatter plots testing the relationship between color-pattern PC axes and ecological traits. Each panel shows the partial effect of one predictor after controlling for the other. Statistics (coefficient, p-value, Pagel’s λ) are annotated in each panel corner.</a:t>
            </a:r>
          </a:p>
        </p:txBody>
      </p:sp>
      <p:sp>
        <p:nvSpPr>
          <p:cNvPr id="40" name="TextBox 39"/>
          <p:cNvSpPr txBox="1"/>
          <p:nvPr/>
        </p:nvSpPr>
        <p:spPr>
          <a:xfrm>
            <a:off x="32232600" y="12527280"/>
            <a:ext cx="10972800" cy="548640"/>
          </a:xfrm>
          <a:prstGeom prst="rect">
            <a:avLst/>
          </a:prstGeom>
          <a:noFill/>
        </p:spPr>
        <p:txBody>
          <a:bodyPr wrap="square" lIns="0" rIns="0" tIns="0" bIns="0">
            <a:spAutoFit/>
          </a:bodyPr>
          <a:lstStyle/>
          <a:p>
            <a:pPr algn="l"/>
            <a:r>
              <a:rPr sz="3600" b="1" i="0">
                <a:solidFill>
                  <a:srgbClr val="003B5C"/>
                </a:solidFill>
                <a:latin typeface="Calibri"/>
              </a:rPr>
              <a:t>DISCUSSION</a:t>
            </a:r>
          </a:p>
        </p:txBody>
      </p:sp>
      <p:sp>
        <p:nvSpPr>
          <p:cNvPr id="41" name="Rectangle 40"/>
          <p:cNvSpPr/>
          <p:nvPr/>
        </p:nvSpPr>
        <p:spPr>
          <a:xfrm>
            <a:off x="32232600" y="13030200"/>
            <a:ext cx="109728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232600" y="13213080"/>
            <a:ext cx="10972800" cy="4572000"/>
          </a:xfrm>
          <a:prstGeom prst="rect">
            <a:avLst/>
          </a:prstGeom>
          <a:solidFill>
            <a:srgbClr val="FFFFFF"/>
          </a:solidFill>
          <a:ln w="12700">
            <a:solidFill>
              <a:srgbClr val="CCCCCC"/>
            </a:solidFill>
          </a:ln>
        </p:spPr>
        <p:txBody>
          <a:bodyPr wrap="square" lIns="137160" rIns="137160" tIns="137160" bIns="137160">
            <a:spAutoFit/>
          </a:bodyPr>
          <a:lstStyle/>
          <a:p>
            <a:pPr algn="l"/>
            <a:r>
              <a:rPr sz="2400" b="0" i="0">
                <a:solidFill>
                  <a:srgbClr val="333333"/>
                </a:solidFill>
                <a:latin typeface="Calibri"/>
              </a:rPr>
              <a:t>• PC1 (pattern density) shows moderate phylogenetic signal (K = [value]), indicating that closely related butterflyfishes share similar pattern complexity.</a:t>
            </a:r>
          </a:p>
          <a:p>
            <a:pPr algn="l">
              <a:spcBef>
                <a:spcPts val="600"/>
              </a:spcBef>
            </a:pPr>
            <a:r>
              <a:rPr sz="2400" b="0" i="0">
                <a:solidFill>
                  <a:srgbClr val="333333"/>
                </a:solidFill>
                <a:latin typeface="Calibri"/>
              </a:rPr>
              <a:t>• Trophic level significantly predicts PC2 (chromatic diversity) after phylogenetic correction, suggesting that dietary ecology shapes color diversity in this clade.</a:t>
            </a:r>
          </a:p>
          <a:p>
            <a:pPr algn="l">
              <a:spcBef>
                <a:spcPts val="600"/>
              </a:spcBef>
            </a:pPr>
            <a:r>
              <a:rPr sz="2400" b="0" i="0">
                <a:solidFill>
                  <a:srgbClr val="333333"/>
                </a:solidFill>
                <a:latin typeface="Calibri"/>
              </a:rPr>
              <a:t>• Body size does not predict color variation, ruling out simple allometric scaling as the driver.</a:t>
            </a:r>
          </a:p>
        </p:txBody>
      </p:sp>
      <p:sp>
        <p:nvSpPr>
          <p:cNvPr id="43" name="TextBox 42"/>
          <p:cNvSpPr txBox="1"/>
          <p:nvPr/>
        </p:nvSpPr>
        <p:spPr>
          <a:xfrm>
            <a:off x="32232600" y="17922240"/>
            <a:ext cx="10972800" cy="548640"/>
          </a:xfrm>
          <a:prstGeom prst="rect">
            <a:avLst/>
          </a:prstGeom>
          <a:noFill/>
        </p:spPr>
        <p:txBody>
          <a:bodyPr wrap="square" lIns="0" rIns="0" tIns="0" bIns="0">
            <a:spAutoFit/>
          </a:bodyPr>
          <a:lstStyle/>
          <a:p>
            <a:pPr algn="l"/>
            <a:r>
              <a:rPr sz="3600" b="1" i="0">
                <a:solidFill>
                  <a:srgbClr val="003B5C"/>
                </a:solidFill>
                <a:latin typeface="Calibri"/>
              </a:rPr>
              <a:t>CONCLUSIONS</a:t>
            </a:r>
          </a:p>
        </p:txBody>
      </p:sp>
      <p:sp>
        <p:nvSpPr>
          <p:cNvPr id="44" name="Rectangle 43"/>
          <p:cNvSpPr/>
          <p:nvPr/>
        </p:nvSpPr>
        <p:spPr>
          <a:xfrm>
            <a:off x="32232600" y="18425160"/>
            <a:ext cx="109728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232600" y="18608040"/>
            <a:ext cx="10972800" cy="2743200"/>
          </a:xfrm>
          <a:prstGeom prst="rect">
            <a:avLst/>
          </a:prstGeom>
          <a:solidFill>
            <a:srgbClr val="FFFFFF"/>
          </a:solidFill>
          <a:ln w="12700">
            <a:solidFill>
              <a:srgbClr val="CCCCCC"/>
            </a:solidFill>
          </a:ln>
        </p:spPr>
        <p:txBody>
          <a:bodyPr wrap="square" lIns="137160" rIns="137160" tIns="137160" bIns="137160">
            <a:spAutoFit/>
          </a:bodyPr>
          <a:lstStyle/>
          <a:p>
            <a:pPr algn="l"/>
            <a:r>
              <a:rPr sz="2400" b="1" i="0">
                <a:solidFill>
                  <a:srgbClr val="333333"/>
                </a:solidFill>
                <a:latin typeface="Calibri"/>
              </a:rPr>
              <a:t>• Color-pattern structure in butterflyfishes is phylogenetically patterned, with closely related species sharing similar designs.</a:t>
            </a:r>
          </a:p>
          <a:p>
            <a:pPr algn="l">
              <a:spcBef>
                <a:spcPts val="600"/>
              </a:spcBef>
            </a:pPr>
            <a:r>
              <a:rPr sz="2400" b="1" i="0">
                <a:solidFill>
                  <a:srgbClr val="333333"/>
                </a:solidFill>
                <a:latin typeface="Calibri"/>
              </a:rPr>
              <a:t>• Trophic ecology may explain part of chromatic variation (PC2), but the effect is modest.</a:t>
            </a:r>
          </a:p>
          <a:p>
            <a:pPr algn="l">
              <a:spcBef>
                <a:spcPts val="600"/>
              </a:spcBef>
            </a:pPr>
            <a:r>
              <a:rPr sz="2400" b="1" i="0">
                <a:solidFill>
                  <a:srgbClr val="333333"/>
                </a:solidFill>
                <a:latin typeface="Calibri"/>
              </a:rPr>
              <a:t>• The decoupling of phylogenetic signal and ecological prediction mirrors findings in other reef fish clades (Alfaro et al. 2019).</a:t>
            </a:r>
          </a:p>
        </p:txBody>
      </p:sp>
      <p:sp>
        <p:nvSpPr>
          <p:cNvPr id="46" name="TextBox 45"/>
          <p:cNvSpPr txBox="1"/>
          <p:nvPr/>
        </p:nvSpPr>
        <p:spPr>
          <a:xfrm>
            <a:off x="32232600" y="21488400"/>
            <a:ext cx="10972800" cy="548640"/>
          </a:xfrm>
          <a:prstGeom prst="rect">
            <a:avLst/>
          </a:prstGeom>
          <a:noFill/>
        </p:spPr>
        <p:txBody>
          <a:bodyPr wrap="square" lIns="0" rIns="0" tIns="0" bIns="0">
            <a:spAutoFit/>
          </a:bodyPr>
          <a:lstStyle/>
          <a:p>
            <a:pPr algn="l"/>
            <a:r>
              <a:rPr sz="3600" b="1" i="0">
                <a:solidFill>
                  <a:srgbClr val="003B5C"/>
                </a:solidFill>
                <a:latin typeface="Calibri"/>
              </a:rPr>
              <a:t>FUTURE DIRECTIONS</a:t>
            </a:r>
          </a:p>
        </p:txBody>
      </p:sp>
      <p:sp>
        <p:nvSpPr>
          <p:cNvPr id="47" name="Rectangle 46"/>
          <p:cNvSpPr/>
          <p:nvPr/>
        </p:nvSpPr>
        <p:spPr>
          <a:xfrm>
            <a:off x="32232600" y="21991320"/>
            <a:ext cx="109728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232600" y="22174200"/>
            <a:ext cx="10972800" cy="1828800"/>
          </a:xfrm>
          <a:prstGeom prst="rect">
            <a:avLst/>
          </a:prstGeom>
          <a:solidFill>
            <a:srgbClr val="FFFFFF"/>
          </a:solidFill>
          <a:ln w="12700">
            <a:solidFill>
              <a:srgbClr val="CCCCCC"/>
            </a:solidFill>
          </a:ln>
        </p:spPr>
        <p:txBody>
          <a:bodyPr wrap="square" lIns="137160" rIns="137160" tIns="137160" bIns="137160">
            <a:spAutoFit/>
          </a:bodyPr>
          <a:lstStyle/>
          <a:p>
            <a:pPr algn="l"/>
            <a:r>
              <a:rPr sz="2400" b="0" i="0">
                <a:solidFill>
                  <a:srgbClr val="333333"/>
                </a:solidFill>
                <a:latin typeface="Calibri"/>
              </a:rPr>
              <a:t>Future work should incorporate visual models (e.g., receptor-noise limited models) to assess color patterns from the perspective of butterflyfish visual systems, and extend the analysis to include depth-stratified comparisons.</a:t>
            </a:r>
          </a:p>
        </p:txBody>
      </p:sp>
      <p:sp>
        <p:nvSpPr>
          <p:cNvPr id="49" name="TextBox 48"/>
          <p:cNvSpPr txBox="1"/>
          <p:nvPr/>
        </p:nvSpPr>
        <p:spPr>
          <a:xfrm>
            <a:off x="32232600" y="24140160"/>
            <a:ext cx="10972800" cy="548640"/>
          </a:xfrm>
          <a:prstGeom prst="rect">
            <a:avLst/>
          </a:prstGeom>
          <a:noFill/>
        </p:spPr>
        <p:txBody>
          <a:bodyPr wrap="square" lIns="0" rIns="0" tIns="0" bIns="0">
            <a:spAutoFit/>
          </a:bodyPr>
          <a:lstStyle/>
          <a:p>
            <a:pPr algn="l"/>
            <a:r>
              <a:rPr sz="3600" b="1" i="0">
                <a:solidFill>
                  <a:srgbClr val="003B5C"/>
                </a:solidFill>
                <a:latin typeface="Calibri"/>
              </a:rPr>
              <a:t>REFERENCES</a:t>
            </a:r>
          </a:p>
        </p:txBody>
      </p:sp>
      <p:sp>
        <p:nvSpPr>
          <p:cNvPr id="50" name="Rectangle 49"/>
          <p:cNvSpPr/>
          <p:nvPr/>
        </p:nvSpPr>
        <p:spPr>
          <a:xfrm>
            <a:off x="32232600" y="24643080"/>
            <a:ext cx="109728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2232600" y="24825960"/>
            <a:ext cx="10972800" cy="2743200"/>
          </a:xfrm>
          <a:prstGeom prst="rect">
            <a:avLst/>
          </a:prstGeom>
          <a:solidFill>
            <a:srgbClr val="FFFFFF"/>
          </a:solidFill>
          <a:ln w="12700">
            <a:solidFill>
              <a:srgbClr val="CCCCCC"/>
            </a:solidFill>
          </a:ln>
        </p:spPr>
        <p:txBody>
          <a:bodyPr wrap="square" lIns="137160" rIns="137160" tIns="137160" bIns="137160">
            <a:spAutoFit/>
          </a:bodyPr>
          <a:lstStyle/>
          <a:p>
            <a:pPr algn="l"/>
            <a:r>
              <a:rPr sz="1800" b="0" i="0">
                <a:solidFill>
                  <a:srgbClr val="333333"/>
                </a:solidFill>
                <a:latin typeface="Calibri"/>
              </a:rPr>
              <a:t>Alfaro, M.E., Karan, E.A., Schwartz, S.T., &amp; Shultz, A.J. (2019). Integrative and Comparative Biology, 59(3), 604–615. doi:10.1093/icb/icz119</a:t>
            </a:r>
            <a:r>
              <a:rPr sz="1800" b="0" i="0">
                <a:solidFill>
                  <a:srgbClr val="333333"/>
                </a:solidFill>
                <a:latin typeface="Calibri"/>
              </a:rPr>
              <a:t>
</a:t>
            </a:r>
            <a:r>
              <a:rPr sz="1800" b="0" i="0">
                <a:solidFill>
                  <a:srgbClr val="333333"/>
                </a:solidFill>
                <a:latin typeface="Calibri"/>
              </a:rPr>
              <a:t>Endler, J.A. (2012). Phil. Trans. R. Soc. B 367: 2319–2331.</a:t>
            </a:r>
            <a:r>
              <a:rPr sz="1800" b="0" i="0">
                <a:solidFill>
                  <a:srgbClr val="333333"/>
                </a:solidFill>
                <a:latin typeface="Calibri"/>
              </a:rPr>
              <a:t>
</a:t>
            </a:r>
            <a:r>
              <a:rPr sz="1800" b="0" i="0">
                <a:solidFill>
                  <a:srgbClr val="333333"/>
                </a:solidFill>
                <a:latin typeface="Calibri"/>
              </a:rPr>
              <a:t>Hemingson, C.R. &amp; Bellwood, D.R. (2018). Proc. R. Soc. B 285: 20182283.</a:t>
            </a:r>
            <a:r>
              <a:rPr sz="1800" b="0" i="0">
                <a:solidFill>
                  <a:srgbClr val="333333"/>
                </a:solidFill>
                <a:latin typeface="Calibri"/>
              </a:rPr>
              <a:t>
</a:t>
            </a:r>
            <a:r>
              <a:rPr sz="1800" b="0" i="0">
                <a:solidFill>
                  <a:srgbClr val="333333"/>
                </a:solidFill>
                <a:latin typeface="Calibri"/>
              </a:rPr>
              <a:t>Blomberg, S.P. et al. (2003). Evolution 57: 717–745.</a:t>
            </a:r>
            <a:r>
              <a:rPr sz="1800" b="0" i="0">
                <a:solidFill>
                  <a:srgbClr val="333333"/>
                </a:solidFill>
                <a:latin typeface="Calibri"/>
              </a:rPr>
              <a:t>
</a:t>
            </a:r>
            <a:r>
              <a:rPr sz="1800" b="0" i="0">
                <a:solidFill>
                  <a:srgbClr val="333333"/>
                </a:solidFill>
                <a:latin typeface="Calibri"/>
              </a:rPr>
              <a:t>Revell, L.J. (2012). Methods Ecol. Evol. 3: 808–812.</a:t>
            </a:r>
          </a:p>
        </p:txBody>
      </p:sp>
      <p:sp>
        <p:nvSpPr>
          <p:cNvPr id="52" name="TextBox 51"/>
          <p:cNvSpPr txBox="1"/>
          <p:nvPr/>
        </p:nvSpPr>
        <p:spPr>
          <a:xfrm>
            <a:off x="685800" y="31089600"/>
            <a:ext cx="42519600" cy="365760"/>
          </a:xfrm>
          <a:prstGeom prst="rect">
            <a:avLst/>
          </a:prstGeom>
          <a:noFill/>
        </p:spPr>
        <p:txBody>
          <a:bodyPr wrap="square" lIns="45720" rIns="45720">
            <a:spAutoFit/>
          </a:bodyPr>
          <a:lstStyle/>
          <a:p>
            <a:pPr algn="ctr"/>
            <a:r>
              <a:rPr sz="1600" b="1" i="1">
                <a:solidFill>
                  <a:srgbClr val="2774AE"/>
                </a:solidFill>
                <a:latin typeface="Calibri"/>
              </a:rPr>
              <a:t>REMINDER: Delete all [bracketed placeholder text] before printing. Save as PDF for the print shop.</a:t>
            </a:r>
          </a:p>
        </p:txBody>
      </p:sp>
      <p:sp>
        <p:nvSpPr>
          <p:cNvPr id="53" name="Rectangle 52"/>
          <p:cNvSpPr/>
          <p:nvPr/>
        </p:nvSpPr>
        <p:spPr>
          <a:xfrm>
            <a:off x="0" y="31546800"/>
            <a:ext cx="43891200" cy="1371600"/>
          </a:xfrm>
          <a:prstGeom prst="rect">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31683960"/>
            <a:ext cx="4572000" cy="914400"/>
          </a:xfrm>
          <a:prstGeom prst="rect">
            <a:avLst/>
          </a:prstGeom>
          <a:noFill/>
        </p:spPr>
        <p:txBody>
          <a:bodyPr wrap="square" tIns="91440" bIns="91440">
            <a:spAutoFit/>
          </a:bodyPr>
          <a:lstStyle/>
          <a:p>
            <a:pPr algn="l"/>
            <a:r>
              <a:rPr sz="2000" b="1" i="0">
                <a:solidFill>
                  <a:srgbClr val="FFD100"/>
                </a:solidFill>
                <a:latin typeface="Calibri"/>
              </a:rPr>
              <a:t>ACKNOWLEDGMENTS</a:t>
            </a:r>
          </a:p>
        </p:txBody>
      </p:sp>
      <p:sp>
        <p:nvSpPr>
          <p:cNvPr id="55" name="TextBox 54"/>
          <p:cNvSpPr txBox="1"/>
          <p:nvPr/>
        </p:nvSpPr>
        <p:spPr>
          <a:xfrm>
            <a:off x="5486400" y="31683960"/>
            <a:ext cx="37947600" cy="914400"/>
          </a:xfrm>
          <a:prstGeom prst="rect">
            <a:avLst/>
          </a:prstGeom>
          <a:noFill/>
        </p:spPr>
        <p:txBody>
          <a:bodyPr wrap="square" tIns="91440" bIns="91440">
            <a:spAutoFit/>
          </a:bodyPr>
          <a:lstStyle/>
          <a:p>
            <a:pPr algn="l"/>
            <a:r>
              <a:rPr sz="1800" b="0" i="0">
                <a:solidFill>
                  <a:srgbClr val="FFFFFF"/>
                </a:solidFill>
                <a:latin typeface="Calibri"/>
              </a:rPr>
              <a:t>We thank Rosamari Hurtado for guidance during the project. Fish images sourced from FishBase, the Bishop Museum ichthyology collection (J.E. Randall photographs), and the FishView server. Phylogeny derived from Alfaro et al. (2019). Supported by a TLC Seed Grant to M. Alfaro.</a:t>
            </a:r>
          </a:p>
        </p:txBody>
      </p:sp>
      <p:sp>
        <p:nvSpPr>
          <p:cNvPr id="56" name="Rectangle 55"/>
          <p:cNvSpPr/>
          <p:nvPr/>
        </p:nvSpPr>
        <p:spPr>
          <a:xfrm>
            <a:off x="13258800" y="25146000"/>
            <a:ext cx="18288000" cy="109728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3441680" y="25283160"/>
            <a:ext cx="17922240" cy="822959"/>
          </a:xfrm>
          <a:prstGeom prst="rect">
            <a:avLst/>
          </a:prstGeom>
          <a:noFill/>
        </p:spPr>
        <p:txBody>
          <a:bodyPr wrap="square">
            <a:spAutoFit/>
          </a:bodyPr>
          <a:lstStyle/>
          <a:p>
            <a:pPr algn="ctr"/>
            <a:r>
              <a:rPr sz="2200" b="1" i="0">
                <a:solidFill>
                  <a:srgbClr val="003B5C"/>
                </a:solidFill>
                <a:latin typeface="Calibri"/>
              </a:rPr>
              <a:t>MAIN RESULT: Color-pattern structure is phylogenetically conserved, with limited ecological prediction — trophic level modestly predicts chromatic diversity but not pattern complexity.</a:t>
            </a:r>
          </a:p>
        </p:txBody>
      </p:sp>
      <p:pic>
        <p:nvPicPr>
          <p:cNvPr id="58" name="Picture 57" descr="image.png"/>
          <p:cNvPicPr>
            <a:picLocks noChangeAspect="1"/>
          </p:cNvPicPr>
          <p:nvPr/>
        </p:nvPicPr>
        <p:blipFill>
          <a:blip r:embed="rId2"/>
          <a:stretch>
            <a:fillRect/>
          </a:stretch>
        </p:blipFill>
        <p:spPr>
          <a:xfrm>
            <a:off x="13258800" y="5074920"/>
            <a:ext cx="8229600" cy="7315200"/>
          </a:xfrm>
          <a:prstGeom prst="rect">
            <a:avLst/>
          </a:prstGeom>
        </p:spPr>
      </p:pic>
      <p:pic>
        <p:nvPicPr>
          <p:cNvPr id="59" name="Picture 58" descr="image.png"/>
          <p:cNvPicPr>
            <a:picLocks noChangeAspect="1"/>
          </p:cNvPicPr>
          <p:nvPr/>
        </p:nvPicPr>
        <p:blipFill>
          <a:blip r:embed="rId3"/>
          <a:stretch>
            <a:fillRect/>
          </a:stretch>
        </p:blipFill>
        <p:spPr>
          <a:xfrm>
            <a:off x="22402800" y="5074920"/>
            <a:ext cx="9144000" cy="7315200"/>
          </a:xfrm>
          <a:prstGeom prst="rect">
            <a:avLst/>
          </a:prstGeom>
        </p:spPr>
      </p:pic>
      <p:pic>
        <p:nvPicPr>
          <p:cNvPr id="60" name="Picture 59" descr="image.png"/>
          <p:cNvPicPr>
            <a:picLocks noChangeAspect="1"/>
          </p:cNvPicPr>
          <p:nvPr/>
        </p:nvPicPr>
        <p:blipFill>
          <a:blip r:embed="rId4"/>
          <a:stretch>
            <a:fillRect/>
          </a:stretch>
        </p:blipFill>
        <p:spPr>
          <a:xfrm>
            <a:off x="13716000" y="13213080"/>
            <a:ext cx="17373600" cy="11887200"/>
          </a:xfrm>
          <a:prstGeom prst="rect">
            <a:avLst/>
          </a:prstGeom>
        </p:spPr>
      </p:pic>
      <p:pic>
        <p:nvPicPr>
          <p:cNvPr id="61" name="Picture 60" descr="image.png"/>
          <p:cNvPicPr>
            <a:picLocks noChangeAspect="1"/>
          </p:cNvPicPr>
          <p:nvPr/>
        </p:nvPicPr>
        <p:blipFill>
          <a:blip r:embed="rId5"/>
          <a:stretch>
            <a:fillRect/>
          </a:stretch>
        </p:blipFill>
        <p:spPr>
          <a:xfrm>
            <a:off x="32232600" y="4389120"/>
            <a:ext cx="10972800" cy="7315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