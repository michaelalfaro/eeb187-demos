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657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4572000" cy="1371600"/>
          </a:xfrm>
          <a:prstGeom prst="rect">
            <a:avLst/>
          </a:prstGeom>
          <a:noFill/>
        </p:spPr>
        <p:txBody>
          <a:bodyPr wrap="square" tIns="91440" bIns="91440">
            <a:spAutoFit/>
          </a:bodyPr>
          <a:lstStyle/>
          <a:p>
            <a:pPr algn="l"/>
            <a:r>
              <a:rPr sz="2400" b="0" i="0">
                <a:solidFill>
                  <a:srgbClr val="FFFFFF"/>
                </a:solidFill>
                <a:latin typeface="Calibri"/>
              </a:rPr>
              <a:t>[UCLA LOGO]</a:t>
            </a:r>
          </a:p>
        </p:txBody>
      </p:sp>
      <p:sp>
        <p:nvSpPr>
          <p:cNvPr id="4" name="TextBox 3"/>
          <p:cNvSpPr txBox="1"/>
          <p:nvPr/>
        </p:nvSpPr>
        <p:spPr>
          <a:xfrm>
            <a:off x="5486400" y="365760"/>
            <a:ext cx="32918400" cy="1463040"/>
          </a:xfrm>
          <a:prstGeom prst="rect">
            <a:avLst/>
          </a:prstGeom>
          <a:noFill/>
        </p:spPr>
        <p:txBody>
          <a:bodyPr wrap="square" tIns="91440" bIns="91440">
            <a:spAutoFit/>
          </a:bodyPr>
          <a:lstStyle/>
          <a:p>
            <a:pPr algn="ctr"/>
            <a:r>
              <a:rPr sz="7200" b="1" i="0">
                <a:solidFill>
                  <a:srgbClr val="FFFFFF"/>
                </a:solidFill>
                <a:latin typeface="Calibri"/>
              </a:rPr>
              <a:t>Color Pattern Evolution in Butterflyfishes (Chaetodontidae): Phylogenetic Signal, Morphospace Structure, and Ecological Correlates</a:t>
            </a:r>
          </a:p>
        </p:txBody>
      </p:sp>
      <p:sp>
        <p:nvSpPr>
          <p:cNvPr id="5" name="TextBox 4"/>
          <p:cNvSpPr txBox="1"/>
          <p:nvPr/>
        </p:nvSpPr>
        <p:spPr>
          <a:xfrm>
            <a:off x="5486400" y="1828800"/>
            <a:ext cx="32918400" cy="640080"/>
          </a:xfrm>
          <a:prstGeom prst="rect">
            <a:avLst/>
          </a:prstGeom>
          <a:noFill/>
        </p:spPr>
        <p:txBody>
          <a:bodyPr wrap="square" tIns="91440" bIns="91440">
            <a:spAutoFit/>
          </a:bodyPr>
          <a:lstStyle/>
          <a:p>
            <a:pPr algn="ctr"/>
            <a:r>
              <a:rPr sz="3600" b="0" i="0">
                <a:solidFill>
                  <a:srgbClr val="FFFFFF"/>
                </a:solidFill>
                <a:latin typeface="Calibri"/>
              </a:rPr>
              <a:t>[Student Names], Michael E. Alfaro</a:t>
            </a:r>
          </a:p>
        </p:txBody>
      </p:sp>
      <p:sp>
        <p:nvSpPr>
          <p:cNvPr id="6" name="TextBox 5"/>
          <p:cNvSpPr txBox="1"/>
          <p:nvPr/>
        </p:nvSpPr>
        <p:spPr>
          <a:xfrm>
            <a:off x="5486400" y="2468880"/>
            <a:ext cx="32918400" cy="548640"/>
          </a:xfrm>
          <a:prstGeom prst="rect">
            <a:avLst/>
          </a:prstGeom>
          <a:noFill/>
        </p:spPr>
        <p:txBody>
          <a:bodyPr wrap="square" tIns="91440" bIns="91440">
            <a:spAutoFit/>
          </a:bodyPr>
          <a:lstStyle/>
          <a:p>
            <a:pPr algn="ctr"/>
            <a:r>
              <a:rPr sz="2400" b="0" i="1">
                <a:solidFill>
                  <a:srgbClr val="FFFFFF"/>
                </a:solidFill>
                <a:latin typeface="Calibri"/>
              </a:rPr>
              <a:t>Department of Ecology and Evolutionary Biology · University of California, Los Angeles</a:t>
            </a:r>
          </a:p>
        </p:txBody>
      </p:sp>
      <p:sp>
        <p:nvSpPr>
          <p:cNvPr id="7" name="TextBox 6"/>
          <p:cNvSpPr txBox="1"/>
          <p:nvPr/>
        </p:nvSpPr>
        <p:spPr>
          <a:xfrm>
            <a:off x="38404800" y="1097280"/>
            <a:ext cx="5029200" cy="1371600"/>
          </a:xfrm>
          <a:prstGeom prst="rect">
            <a:avLst/>
          </a:prstGeom>
          <a:noFill/>
        </p:spPr>
        <p:txBody>
          <a:bodyPr wrap="square" tIns="91440" bIns="91440">
            <a:spAutoFit/>
          </a:bodyPr>
          <a:lstStyle/>
          <a:p>
            <a:pPr algn="r"/>
            <a:r>
              <a:rPr sz="2400" b="0" i="0">
                <a:solidFill>
                  <a:srgbClr val="FFFFFF"/>
                </a:solidFill>
                <a:latin typeface="Calibri"/>
              </a:rPr>
              <a:t>[EEB 187 · Spring 2026]</a:t>
            </a:r>
          </a:p>
        </p:txBody>
      </p:sp>
      <p:sp>
        <p:nvSpPr>
          <p:cNvPr id="8" name="Rectangle 7"/>
          <p:cNvSpPr/>
          <p:nvPr/>
        </p:nvSpPr>
        <p:spPr>
          <a:xfrm>
            <a:off x="0" y="3657600"/>
            <a:ext cx="43891200" cy="13716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389120"/>
            <a:ext cx="11887200" cy="548640"/>
          </a:xfrm>
          <a:prstGeom prst="rect">
            <a:avLst/>
          </a:prstGeom>
          <a:noFill/>
        </p:spPr>
        <p:txBody>
          <a:bodyPr wrap="square" lIns="0" rIns="0" tIns="0" bIns="0">
            <a:spAutoFit/>
          </a:bodyPr>
          <a:lstStyle/>
          <a:p>
            <a:pPr algn="l"/>
            <a:r>
              <a:rPr sz="3600" b="1" i="0">
                <a:solidFill>
                  <a:srgbClr val="003B5C"/>
                </a:solidFill>
                <a:latin typeface="Calibri"/>
              </a:rPr>
              <a:t>INTRODUCTION</a:t>
            </a:r>
          </a:p>
        </p:txBody>
      </p:sp>
      <p:sp>
        <p:nvSpPr>
          <p:cNvPr id="10" name="Rectangle 9"/>
          <p:cNvSpPr/>
          <p:nvPr/>
        </p:nvSpPr>
        <p:spPr>
          <a:xfrm>
            <a:off x="685800" y="489204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7492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Butterflyfishes (Chaetodontidae) are among the most colorful and recognizable reef fish families, with ~130 species displaying striking diversity in stripe patterns, eyespots, and body coloration.</a:t>
            </a:r>
          </a:p>
          <a:p>
            <a:pPr algn="l">
              <a:spcBef>
                <a:spcPts val="600"/>
              </a:spcBef>
            </a:pPr>
            <a:r>
              <a:rPr sz="2400" b="0" i="0">
                <a:solidFill>
                  <a:srgbClr val="333333"/>
                </a:solidFill>
                <a:latin typeface="Calibri"/>
              </a:rPr>
              <a:t>• Color patterns in reef fishes serve multiple functions including species recognition, predator deterrence, and camouflage, yet the evolutionary drivers of this diversity remain poorly understood.</a:t>
            </a:r>
          </a:p>
          <a:p>
            <a:pPr algn="l">
              <a:spcBef>
                <a:spcPts val="600"/>
              </a:spcBef>
            </a:pPr>
            <a:r>
              <a:rPr sz="2400" b="0" i="0">
                <a:solidFill>
                  <a:srgbClr val="333333"/>
                </a:solidFill>
                <a:latin typeface="Calibri"/>
              </a:rPr>
              <a:t>• Phylogenetic comparative methods allow us to test whether color-pattern variation is structured by evolutionary history (phylogenetic signal) and whether ecological traits predict color diversity.</a:t>
            </a:r>
          </a:p>
          <a:p>
            <a:pPr algn="l">
              <a:spcBef>
                <a:spcPts val="600"/>
              </a:spcBef>
            </a:pPr>
            <a:r>
              <a:rPr sz="2400" b="0" i="0">
                <a:solidFill>
                  <a:srgbClr val="333333"/>
                </a:solidFill>
                <a:latin typeface="Calibri"/>
              </a:rPr>
              <a:t>• We used digital image analysis (pavo) and phylogenetic comparative methods to quantify and analyze color-pattern evolution across 109 butterflyfish species.</a:t>
            </a:r>
          </a:p>
        </p:txBody>
      </p:sp>
      <p:sp>
        <p:nvSpPr>
          <p:cNvPr id="12" name="TextBox 11"/>
          <p:cNvSpPr txBox="1"/>
          <p:nvPr/>
        </p:nvSpPr>
        <p:spPr>
          <a:xfrm>
            <a:off x="685800" y="12527280"/>
            <a:ext cx="11887200" cy="548640"/>
          </a:xfrm>
          <a:prstGeom prst="rect">
            <a:avLst/>
          </a:prstGeom>
          <a:noFill/>
        </p:spPr>
        <p:txBody>
          <a:bodyPr wrap="square" lIns="0" rIns="0" tIns="0" bIns="0">
            <a:spAutoFit/>
          </a:bodyPr>
          <a:lstStyle/>
          <a:p>
            <a:pPr algn="l"/>
            <a:r>
              <a:rPr sz="3600" b="1" i="0">
                <a:solidFill>
                  <a:srgbClr val="003B5C"/>
                </a:solidFill>
                <a:latin typeface="Calibri"/>
              </a:rPr>
              <a:t>RESEARCH QUESTION</a:t>
            </a:r>
          </a:p>
        </p:txBody>
      </p:sp>
      <p:sp>
        <p:nvSpPr>
          <p:cNvPr id="13" name="Rectangle 12"/>
          <p:cNvSpPr/>
          <p:nvPr/>
        </p:nvSpPr>
        <p:spPr>
          <a:xfrm>
            <a:off x="685800" y="1303020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3213080"/>
            <a:ext cx="109728" cy="22860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13213080"/>
            <a:ext cx="11722608" cy="2286000"/>
          </a:xfrm>
          <a:prstGeom prst="rect">
            <a:avLst/>
          </a:prstGeom>
          <a:solidFill>
            <a:srgbClr val="FFFFFF"/>
          </a:solidFill>
          <a:ln w="12700">
            <a:solidFill>
              <a:srgbClr val="CCCCCC"/>
            </a:solidFill>
          </a:ln>
        </p:spPr>
        <p:txBody>
          <a:bodyPr wrap="square" lIns="137160" rIns="137160" tIns="137160" bIns="137160">
            <a:spAutoFit/>
          </a:bodyPr>
          <a:lstStyle/>
          <a:p>
            <a:pPr algn="l"/>
            <a:r>
              <a:rPr sz="2800" b="1" i="0">
                <a:solidFill>
                  <a:srgbClr val="333333"/>
                </a:solidFill>
                <a:latin typeface="Calibri"/>
              </a:rPr>
              <a:t>Does color-pattern diversity in butterflyfishes show phylogenetic signal, and do ecological traits (trophic level, body size) predict color-pattern variation after controlling for shared ancestry?</a:t>
            </a:r>
          </a:p>
        </p:txBody>
      </p:sp>
      <p:sp>
        <p:nvSpPr>
          <p:cNvPr id="16" name="TextBox 15"/>
          <p:cNvSpPr txBox="1"/>
          <p:nvPr/>
        </p:nvSpPr>
        <p:spPr>
          <a:xfrm>
            <a:off x="685800" y="15636240"/>
            <a:ext cx="11887200" cy="548640"/>
          </a:xfrm>
          <a:prstGeom prst="rect">
            <a:avLst/>
          </a:prstGeom>
          <a:noFill/>
        </p:spPr>
        <p:txBody>
          <a:bodyPr wrap="square" lIns="0" rIns="0" tIns="0" bIns="0">
            <a:spAutoFit/>
          </a:bodyPr>
          <a:lstStyle/>
          <a:p>
            <a:pPr algn="l"/>
            <a:r>
              <a:rPr sz="3600" b="1" i="0">
                <a:solidFill>
                  <a:srgbClr val="003B5C"/>
                </a:solidFill>
                <a:latin typeface="Calibri"/>
              </a:rPr>
              <a:t>HYPOTHESIS</a:t>
            </a:r>
          </a:p>
        </p:txBody>
      </p:sp>
      <p:sp>
        <p:nvSpPr>
          <p:cNvPr id="17" name="Rectangle 16"/>
          <p:cNvSpPr/>
          <p:nvPr/>
        </p:nvSpPr>
        <p:spPr>
          <a:xfrm>
            <a:off x="685800" y="1613916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16322040"/>
            <a:ext cx="118872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If color-pattern diversity is shaped by ecological selective pressures, we predict: (1) moderate phylogenetic signal (K &lt; 1), indicating evolutionary lability rather than strict phylogenetic conservatism; (2) significant PGLS relationships between color-pattern PC axes and trophic level or body size; and (3) convergent color patterns among ecologically similar species regardless of phylogenetic position.</a:t>
            </a:r>
          </a:p>
        </p:txBody>
      </p:sp>
      <p:sp>
        <p:nvSpPr>
          <p:cNvPr id="19" name="TextBox 18"/>
          <p:cNvSpPr txBox="1"/>
          <p:nvPr/>
        </p:nvSpPr>
        <p:spPr>
          <a:xfrm>
            <a:off x="685800" y="19202400"/>
            <a:ext cx="11887200" cy="548640"/>
          </a:xfrm>
          <a:prstGeom prst="rect">
            <a:avLst/>
          </a:prstGeom>
          <a:noFill/>
        </p:spPr>
        <p:txBody>
          <a:bodyPr wrap="square" lIns="0" rIns="0" tIns="0" bIns="0">
            <a:spAutoFit/>
          </a:bodyPr>
          <a:lstStyle/>
          <a:p>
            <a:pPr algn="l"/>
            <a:r>
              <a:rPr sz="3600" b="1" i="0">
                <a:solidFill>
                  <a:srgbClr val="003B5C"/>
                </a:solidFill>
                <a:latin typeface="Calibri"/>
              </a:rPr>
              <a:t>METHODS</a:t>
            </a:r>
          </a:p>
        </p:txBody>
      </p:sp>
      <p:sp>
        <p:nvSpPr>
          <p:cNvPr id="20" name="Rectangle 19"/>
          <p:cNvSpPr/>
          <p:nvPr/>
        </p:nvSpPr>
        <p:spPr>
          <a:xfrm>
            <a:off x="685800" y="1970532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1988820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Exemplar images for 130 species were analyzed using the R package pavo to extract adjacency-based color-pattern metrics (transition density, color diversity, boundary strength).</a:t>
            </a:r>
          </a:p>
          <a:p>
            <a:pPr algn="l">
              <a:spcBef>
                <a:spcPts val="600"/>
              </a:spcBef>
            </a:pPr>
            <a:r>
              <a:rPr sz="2400" b="0" i="0">
                <a:solidFill>
                  <a:srgbClr val="333333"/>
                </a:solidFill>
                <a:latin typeface="Calibri"/>
              </a:rPr>
              <a:t>• A phylogenetic PCA (phytools::phyl.pca) reduced 10 pavo metrics to orthogonal axes; PC1 captured pattern density (39.5% variance), PC2 captured color diversity (19.2%).</a:t>
            </a:r>
          </a:p>
          <a:p>
            <a:pPr algn="l">
              <a:spcBef>
                <a:spcPts val="600"/>
              </a:spcBef>
            </a:pPr>
            <a:r>
              <a:rPr sz="2400" b="0" i="0">
                <a:solidFill>
                  <a:srgbClr val="333333"/>
                </a:solidFill>
                <a:latin typeface="Calibri"/>
              </a:rPr>
              <a:t>• Phylogenetic signal was assessed with Blomberg’s K on each PC axis.</a:t>
            </a:r>
          </a:p>
          <a:p>
            <a:pPr algn="l">
              <a:spcBef>
                <a:spcPts val="600"/>
              </a:spcBef>
            </a:pPr>
            <a:r>
              <a:rPr sz="2400" b="0" i="0">
                <a:solidFill>
                  <a:srgbClr val="333333"/>
                </a:solidFill>
                <a:latin typeface="Calibri"/>
              </a:rPr>
              <a:t>• Ancestral states were reconstructed using phytools::contMap under Brownian motion.</a:t>
            </a:r>
          </a:p>
          <a:p>
            <a:pPr algn="l">
              <a:spcBef>
                <a:spcPts val="600"/>
              </a:spcBef>
            </a:pPr>
            <a:r>
              <a:rPr sz="2400" b="0" i="0">
                <a:solidFill>
                  <a:srgbClr val="333333"/>
                </a:solidFill>
                <a:latin typeface="Calibri"/>
              </a:rPr>
              <a:t>• Phylogenetic generalized least squares (PGLS with Pagel’s λ) tested whether trophic level and body size predict PC1 and PC2 scores.</a:t>
            </a:r>
          </a:p>
          <a:p>
            <a:pPr algn="l">
              <a:spcBef>
                <a:spcPts val="600"/>
              </a:spcBef>
            </a:pPr>
            <a:r>
              <a:rPr sz="2400" b="0" i="0">
                <a:solidFill>
                  <a:srgbClr val="333333"/>
                </a:solidFill>
                <a:latin typeface="Calibri"/>
              </a:rPr>
              <a:t>• Trophic level and body size data were obtained from FishBase via rfishbase.</a:t>
            </a:r>
          </a:p>
        </p:txBody>
      </p:sp>
      <p:sp>
        <p:nvSpPr>
          <p:cNvPr id="22" name="TextBox 21"/>
          <p:cNvSpPr txBox="1"/>
          <p:nvPr/>
        </p:nvSpPr>
        <p:spPr>
          <a:xfrm>
            <a:off x="13258800" y="4389120"/>
            <a:ext cx="18288000" cy="548640"/>
          </a:xfrm>
          <a:prstGeom prst="rect">
            <a:avLst/>
          </a:prstGeom>
          <a:noFill/>
        </p:spPr>
        <p:txBody>
          <a:bodyPr wrap="square" lIns="0" rIns="0" tIns="0" bIns="0">
            <a:spAutoFit/>
          </a:bodyPr>
          <a:lstStyle/>
          <a:p>
            <a:pPr algn="l"/>
            <a:r>
              <a:rPr sz="3600" b="1" i="0">
                <a:solidFill>
                  <a:srgbClr val="003B5C"/>
                </a:solidFill>
                <a:latin typeface="Calibri"/>
              </a:rPr>
              <a:t>RESULTS</a:t>
            </a:r>
          </a:p>
        </p:txBody>
      </p:sp>
      <p:sp>
        <p:nvSpPr>
          <p:cNvPr id="23" name="Rectangle 22"/>
          <p:cNvSpPr/>
          <p:nvPr/>
        </p:nvSpPr>
        <p:spPr>
          <a:xfrm>
            <a:off x="13258800" y="4892040"/>
            <a:ext cx="182880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258800" y="12481560"/>
            <a:ext cx="8229600" cy="457200"/>
          </a:xfrm>
          <a:prstGeom prst="rect">
            <a:avLst/>
          </a:prstGeom>
          <a:noFill/>
        </p:spPr>
        <p:txBody>
          <a:bodyPr wrap="square" lIns="45720" rIns="45720">
            <a:spAutoFit/>
          </a:bodyPr>
          <a:lstStyle/>
          <a:p>
            <a:pPr algn="l"/>
            <a:r>
              <a:rPr sz="2000" b="0" i="1">
                <a:solidFill>
                  <a:srgbClr val="333333"/>
                </a:solidFill>
                <a:latin typeface="Calibri"/>
              </a:rPr>
              <a:t>Figure 1. Color gamut of Chaetodontidae in RGB color space. Each point represents a color cluster center from one species’ exemplar image. The convex hull encloses the family’s occupied color volume.</a:t>
            </a:r>
          </a:p>
        </p:txBody>
      </p:sp>
      <p:sp>
        <p:nvSpPr>
          <p:cNvPr id="29" name="TextBox 28"/>
          <p:cNvSpPr txBox="1"/>
          <p:nvPr/>
        </p:nvSpPr>
        <p:spPr>
          <a:xfrm>
            <a:off x="22402800" y="12481560"/>
            <a:ext cx="9144000" cy="457200"/>
          </a:xfrm>
          <a:prstGeom prst="rect">
            <a:avLst/>
          </a:prstGeom>
          <a:noFill/>
        </p:spPr>
        <p:txBody>
          <a:bodyPr wrap="square" lIns="45720" rIns="45720">
            <a:spAutoFit/>
          </a:bodyPr>
          <a:lstStyle/>
          <a:p>
            <a:pPr algn="l"/>
            <a:r>
              <a:rPr sz="2000" b="0" i="1">
                <a:solidFill>
                  <a:srgbClr val="333333"/>
                </a:solidFill>
                <a:latin typeface="Calibri"/>
              </a:rPr>
              <a:t>Figure 2. Phylomorphospace of 109 butterflyfish species in PhyloPC1 × PhyloPC2 space. Tips are plotted as exemplar images; gray lines connect species through Brownian-motion reconstructed ancestral nodes. PC1 (39.5%) loads on pattern transition metrics; PC2 (19.2%) loads on color diversity.</a:t>
            </a:r>
          </a:p>
        </p:txBody>
      </p:sp>
      <p:sp>
        <p:nvSpPr>
          <p:cNvPr id="32" name="TextBox 31"/>
          <p:cNvSpPr txBox="1"/>
          <p:nvPr/>
        </p:nvSpPr>
        <p:spPr>
          <a:xfrm>
            <a:off x="13716000" y="25191720"/>
            <a:ext cx="17373600" cy="457200"/>
          </a:xfrm>
          <a:prstGeom prst="rect">
            <a:avLst/>
          </a:prstGeom>
          <a:noFill/>
        </p:spPr>
        <p:txBody>
          <a:bodyPr wrap="square" lIns="45720" rIns="45720">
            <a:spAutoFit/>
          </a:bodyPr>
          <a:lstStyle/>
          <a:p>
            <a:pPr algn="l"/>
            <a:r>
              <a:rPr sz="2000" b="0" i="1">
                <a:solidFill>
                  <a:srgbClr val="333333"/>
                </a:solidFill>
                <a:latin typeface="Calibri"/>
              </a:rPr>
              <a:t>Figure 3. Time-calibrated phylogeny of Chaetodontidae with PC1 ancestral state reconstruction mapped on branches. Tip images shown for every other species. Columns to the right show PC1, PC2, PC3 scores (diverging palette), trophic level, and body size (sequential palette).</a:t>
            </a:r>
          </a:p>
        </p:txBody>
      </p:sp>
      <p:sp>
        <p:nvSpPr>
          <p:cNvPr id="35" name="TextBox 34"/>
          <p:cNvSpPr txBox="1"/>
          <p:nvPr/>
        </p:nvSpPr>
        <p:spPr>
          <a:xfrm>
            <a:off x="32232600" y="11795760"/>
            <a:ext cx="10972800" cy="457200"/>
          </a:xfrm>
          <a:prstGeom prst="rect">
            <a:avLst/>
          </a:prstGeom>
          <a:noFill/>
        </p:spPr>
        <p:txBody>
          <a:bodyPr wrap="square" lIns="45720" rIns="45720">
            <a:spAutoFit/>
          </a:bodyPr>
          <a:lstStyle/>
          <a:p>
            <a:pPr algn="l"/>
            <a:r>
              <a:rPr sz="2000" b="0" i="1">
                <a:solidFill>
                  <a:srgbClr val="333333"/>
                </a:solidFill>
                <a:latin typeface="Calibri"/>
              </a:rPr>
              <a:t>Figure 4. PGLS partial-residual scatter plots testing the relationship between color-pattern PC axes and ecological traits. Each panel shows the partial effect of one predictor after controlling for the other. Statistics (coefficient, p-value, Pagel’s λ) are annotated in each panel corner.</a:t>
            </a:r>
          </a:p>
        </p:txBody>
      </p:sp>
      <p:sp>
        <p:nvSpPr>
          <p:cNvPr id="36" name="TextBox 35"/>
          <p:cNvSpPr txBox="1"/>
          <p:nvPr/>
        </p:nvSpPr>
        <p:spPr>
          <a:xfrm>
            <a:off x="32232600" y="12527280"/>
            <a:ext cx="10972800" cy="548640"/>
          </a:xfrm>
          <a:prstGeom prst="rect">
            <a:avLst/>
          </a:prstGeom>
          <a:noFill/>
        </p:spPr>
        <p:txBody>
          <a:bodyPr wrap="square" lIns="0" rIns="0" tIns="0" bIns="0">
            <a:spAutoFit/>
          </a:bodyPr>
          <a:lstStyle/>
          <a:p>
            <a:pPr algn="l"/>
            <a:r>
              <a:rPr sz="3600" b="1" i="0">
                <a:solidFill>
                  <a:srgbClr val="003B5C"/>
                </a:solidFill>
                <a:latin typeface="Calibri"/>
              </a:rPr>
              <a:t>DISCUSSION</a:t>
            </a:r>
          </a:p>
        </p:txBody>
      </p:sp>
      <p:sp>
        <p:nvSpPr>
          <p:cNvPr id="37" name="Rectangle 36"/>
          <p:cNvSpPr/>
          <p:nvPr/>
        </p:nvSpPr>
        <p:spPr>
          <a:xfrm>
            <a:off x="32232600" y="1303020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232600" y="13213080"/>
            <a:ext cx="10972800" cy="45720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PC1 (pattern density) shows moderate phylogenetic signal, indicating that closely related butterflyfishes tend to share similar pattern complexity — consistent with Alfaro et al. (2019).</a:t>
            </a:r>
          </a:p>
          <a:p>
            <a:pPr algn="l">
              <a:spcBef>
                <a:spcPts val="600"/>
              </a:spcBef>
            </a:pPr>
            <a:r>
              <a:rPr sz="2400" b="0" i="0">
                <a:solidFill>
                  <a:srgbClr val="333333"/>
                </a:solidFill>
                <a:latin typeface="Calibri"/>
              </a:rPr>
              <a:t>• The PGLS analysis reveals that trophic level is a significant predictor of PC2 (color diversity) after controlling for phylogeny, suggesting that dietary ecology shapes chromatic diversity in this clade.</a:t>
            </a:r>
          </a:p>
          <a:p>
            <a:pPr algn="l">
              <a:spcBef>
                <a:spcPts val="600"/>
              </a:spcBef>
            </a:pPr>
            <a:r>
              <a:rPr sz="2400" b="0" i="0">
                <a:solidFill>
                  <a:srgbClr val="333333"/>
                </a:solidFill>
                <a:latin typeface="Calibri"/>
              </a:rPr>
              <a:t>• The phylomorphospace reveals extensive overlap among genera in PC1–PC2 space, with several instances of convergent color patterns among distantly related lineages.</a:t>
            </a:r>
          </a:p>
        </p:txBody>
      </p:sp>
      <p:sp>
        <p:nvSpPr>
          <p:cNvPr id="39" name="TextBox 38"/>
          <p:cNvSpPr txBox="1"/>
          <p:nvPr/>
        </p:nvSpPr>
        <p:spPr>
          <a:xfrm>
            <a:off x="32232600" y="17922240"/>
            <a:ext cx="10972800" cy="548640"/>
          </a:xfrm>
          <a:prstGeom prst="rect">
            <a:avLst/>
          </a:prstGeom>
          <a:noFill/>
        </p:spPr>
        <p:txBody>
          <a:bodyPr wrap="square" lIns="0" rIns="0" tIns="0" bIns="0">
            <a:spAutoFit/>
          </a:bodyPr>
          <a:lstStyle/>
          <a:p>
            <a:pPr algn="l"/>
            <a:r>
              <a:rPr sz="3600" b="1" i="0">
                <a:solidFill>
                  <a:srgbClr val="003B5C"/>
                </a:solidFill>
                <a:latin typeface="Calibri"/>
              </a:rPr>
              <a:t>CONCLUSIONS</a:t>
            </a:r>
          </a:p>
        </p:txBody>
      </p:sp>
      <p:sp>
        <p:nvSpPr>
          <p:cNvPr id="40" name="Rectangle 39"/>
          <p:cNvSpPr/>
          <p:nvPr/>
        </p:nvSpPr>
        <p:spPr>
          <a:xfrm>
            <a:off x="32232600" y="1842516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232600" y="1860804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1" i="0">
                <a:solidFill>
                  <a:srgbClr val="333333"/>
                </a:solidFill>
                <a:latin typeface="Calibri"/>
              </a:rPr>
              <a:t>• Color-pattern complexity in butterflyfishes is moderately phylogenetically conserved but not strongly predicted by body size.</a:t>
            </a:r>
          </a:p>
          <a:p>
            <a:pPr algn="l">
              <a:spcBef>
                <a:spcPts val="600"/>
              </a:spcBef>
            </a:pPr>
            <a:r>
              <a:rPr sz="2400" b="1" i="0">
                <a:solidFill>
                  <a:srgbClr val="333333"/>
                </a:solidFill>
                <a:latin typeface="Calibri"/>
              </a:rPr>
              <a:t>• Trophic ecology significantly predicts chromatic diversity (PC2), consistent with the hypothesis that diet-associated habitat use influences visual signaling.</a:t>
            </a:r>
          </a:p>
          <a:p>
            <a:pPr algn="l">
              <a:spcBef>
                <a:spcPts val="600"/>
              </a:spcBef>
            </a:pPr>
            <a:r>
              <a:rPr sz="2400" b="1" i="0">
                <a:solidFill>
                  <a:srgbClr val="333333"/>
                </a:solidFill>
                <a:latin typeface="Calibri"/>
              </a:rPr>
              <a:t>• These results support a model of constrained diversification where evolutionary history sets the broad pattern and ecology fine-tunes the details.</a:t>
            </a:r>
          </a:p>
        </p:txBody>
      </p:sp>
      <p:sp>
        <p:nvSpPr>
          <p:cNvPr id="42" name="TextBox 41"/>
          <p:cNvSpPr txBox="1"/>
          <p:nvPr/>
        </p:nvSpPr>
        <p:spPr>
          <a:xfrm>
            <a:off x="32232600" y="21488400"/>
            <a:ext cx="10972800" cy="548640"/>
          </a:xfrm>
          <a:prstGeom prst="rect">
            <a:avLst/>
          </a:prstGeom>
          <a:noFill/>
        </p:spPr>
        <p:txBody>
          <a:bodyPr wrap="square" lIns="0" rIns="0" tIns="0" bIns="0">
            <a:spAutoFit/>
          </a:bodyPr>
          <a:lstStyle/>
          <a:p>
            <a:pPr algn="l"/>
            <a:r>
              <a:rPr sz="3600" b="1" i="0">
                <a:solidFill>
                  <a:srgbClr val="003B5C"/>
                </a:solidFill>
                <a:latin typeface="Calibri"/>
              </a:rPr>
              <a:t>FUTURE DIRECTIONS</a:t>
            </a:r>
          </a:p>
        </p:txBody>
      </p:sp>
      <p:sp>
        <p:nvSpPr>
          <p:cNvPr id="43" name="Rectangle 42"/>
          <p:cNvSpPr/>
          <p:nvPr/>
        </p:nvSpPr>
        <p:spPr>
          <a:xfrm>
            <a:off x="32232600" y="2199132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232600" y="22174200"/>
            <a:ext cx="10972800" cy="18288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Future work should incorporate visual models (e.g., receptor-noise limited models) to assess color patterns from the perspective of butterflyfish visual systems, and extend the analysis to include depth-stratified comparisons.</a:t>
            </a:r>
          </a:p>
        </p:txBody>
      </p:sp>
      <p:sp>
        <p:nvSpPr>
          <p:cNvPr id="45" name="TextBox 44"/>
          <p:cNvSpPr txBox="1"/>
          <p:nvPr/>
        </p:nvSpPr>
        <p:spPr>
          <a:xfrm>
            <a:off x="32232600" y="24140160"/>
            <a:ext cx="10972800" cy="548640"/>
          </a:xfrm>
          <a:prstGeom prst="rect">
            <a:avLst/>
          </a:prstGeom>
          <a:noFill/>
        </p:spPr>
        <p:txBody>
          <a:bodyPr wrap="square" lIns="0" rIns="0" tIns="0" bIns="0">
            <a:spAutoFit/>
          </a:bodyPr>
          <a:lstStyle/>
          <a:p>
            <a:pPr algn="l"/>
            <a:r>
              <a:rPr sz="3600" b="1" i="0">
                <a:solidFill>
                  <a:srgbClr val="003B5C"/>
                </a:solidFill>
                <a:latin typeface="Calibri"/>
              </a:rPr>
              <a:t>REFERENCES</a:t>
            </a:r>
          </a:p>
        </p:txBody>
      </p:sp>
      <p:sp>
        <p:nvSpPr>
          <p:cNvPr id="46" name="Rectangle 45"/>
          <p:cNvSpPr/>
          <p:nvPr/>
        </p:nvSpPr>
        <p:spPr>
          <a:xfrm>
            <a:off x="32232600" y="2464308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232600" y="2482596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1800" b="0" i="0">
                <a:solidFill>
                  <a:srgbClr val="333333"/>
                </a:solidFill>
                <a:latin typeface="Calibri"/>
              </a:rPr>
              <a:t>Alfaro, M.E. et al. (2019). Ichthyology &amp; Herpetology.</a:t>
            </a:r>
            <a:r>
              <a:rPr sz="1800" b="0" i="0">
                <a:solidFill>
                  <a:srgbClr val="333333"/>
                </a:solidFill>
                <a:latin typeface="Calibri"/>
              </a:rPr>
              <a:t>
</a:t>
            </a:r>
            <a:r>
              <a:rPr sz="1800" b="0" i="0">
                <a:solidFill>
                  <a:srgbClr val="333333"/>
                </a:solidFill>
                <a:latin typeface="Calibri"/>
              </a:rPr>
              <a:t>Endler, J.A. (2012). Phil. Trans. R. Soc. B 367: 2319–2331.</a:t>
            </a:r>
            <a:r>
              <a:rPr sz="1800" b="0" i="0">
                <a:solidFill>
                  <a:srgbClr val="333333"/>
                </a:solidFill>
                <a:latin typeface="Calibri"/>
              </a:rPr>
              <a:t>
</a:t>
            </a:r>
            <a:r>
              <a:rPr sz="1800" b="0" i="0">
                <a:solidFill>
                  <a:srgbClr val="333333"/>
                </a:solidFill>
                <a:latin typeface="Calibri"/>
              </a:rPr>
              <a:t>Hemingson, C.R. &amp; Bellwood, D.R. (2018). Proc. R. Soc. B 285: 20182283.</a:t>
            </a:r>
            <a:r>
              <a:rPr sz="1800" b="0" i="0">
                <a:solidFill>
                  <a:srgbClr val="333333"/>
                </a:solidFill>
                <a:latin typeface="Calibri"/>
              </a:rPr>
              <a:t>
</a:t>
            </a:r>
            <a:r>
              <a:rPr sz="1800" b="0" i="0">
                <a:solidFill>
                  <a:srgbClr val="333333"/>
                </a:solidFill>
                <a:latin typeface="Calibri"/>
              </a:rPr>
              <a:t>Blomberg, S.P. et al. (2003). Evolution 57: 717–745.</a:t>
            </a:r>
            <a:r>
              <a:rPr sz="1800" b="0" i="0">
                <a:solidFill>
                  <a:srgbClr val="333333"/>
                </a:solidFill>
                <a:latin typeface="Calibri"/>
              </a:rPr>
              <a:t>
</a:t>
            </a:r>
            <a:r>
              <a:rPr sz="1800" b="0" i="0">
                <a:solidFill>
                  <a:srgbClr val="333333"/>
                </a:solidFill>
                <a:latin typeface="Calibri"/>
              </a:rPr>
              <a:t>Revell, L.J. (2012). Methods Ecol. Evol. 3: 808–812.</a:t>
            </a:r>
          </a:p>
        </p:txBody>
      </p:sp>
      <p:sp>
        <p:nvSpPr>
          <p:cNvPr id="48" name="Rectangle 47"/>
          <p:cNvSpPr/>
          <p:nvPr/>
        </p:nvSpPr>
        <p:spPr>
          <a:xfrm>
            <a:off x="0" y="31546800"/>
            <a:ext cx="43891200" cy="1371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1683960"/>
            <a:ext cx="4572000" cy="914400"/>
          </a:xfrm>
          <a:prstGeom prst="rect">
            <a:avLst/>
          </a:prstGeom>
          <a:noFill/>
        </p:spPr>
        <p:txBody>
          <a:bodyPr wrap="square" tIns="91440" bIns="91440">
            <a:spAutoFit/>
          </a:bodyPr>
          <a:lstStyle/>
          <a:p>
            <a:pPr algn="l"/>
            <a:r>
              <a:rPr sz="2000" b="1" i="0">
                <a:solidFill>
                  <a:srgbClr val="FFD100"/>
                </a:solidFill>
                <a:latin typeface="Calibri"/>
              </a:rPr>
              <a:t>ACKNOWLEDGMENTS</a:t>
            </a:r>
          </a:p>
        </p:txBody>
      </p:sp>
      <p:sp>
        <p:nvSpPr>
          <p:cNvPr id="50" name="TextBox 49"/>
          <p:cNvSpPr txBox="1"/>
          <p:nvPr/>
        </p:nvSpPr>
        <p:spPr>
          <a:xfrm>
            <a:off x="5486400" y="31683960"/>
            <a:ext cx="37947600" cy="914400"/>
          </a:xfrm>
          <a:prstGeom prst="rect">
            <a:avLst/>
          </a:prstGeom>
          <a:noFill/>
        </p:spPr>
        <p:txBody>
          <a:bodyPr wrap="square" tIns="91440" bIns="91440">
            <a:spAutoFit/>
          </a:bodyPr>
          <a:lstStyle/>
          <a:p>
            <a:pPr algn="l"/>
            <a:r>
              <a:rPr sz="1800" b="0" i="0">
                <a:solidFill>
                  <a:srgbClr val="FFFFFF"/>
                </a:solidFill>
                <a:latin typeface="Calibri"/>
              </a:rPr>
              <a:t>We thank Dr. Michael Alfaro and the EEB 187 teaching team. Fish images sourced from FishBase, Bishop Museum, and FishView. Phylogeny derived from Alfaro et al. (2019). Supported by a TLC Seed Grant to M. Alfaro.</a:t>
            </a:r>
          </a:p>
        </p:txBody>
      </p:sp>
      <p:pic>
        <p:nvPicPr>
          <p:cNvPr id="51" name="Picture 50" descr="image.png"/>
          <p:cNvPicPr>
            <a:picLocks noChangeAspect="1"/>
          </p:cNvPicPr>
          <p:nvPr/>
        </p:nvPicPr>
        <p:blipFill>
          <a:blip r:embed="rId2"/>
          <a:stretch>
            <a:fillRect/>
          </a:stretch>
        </p:blipFill>
        <p:spPr>
          <a:xfrm>
            <a:off x="13258800" y="5074920"/>
            <a:ext cx="8229600" cy="7315200"/>
          </a:xfrm>
          <a:prstGeom prst="rect">
            <a:avLst/>
          </a:prstGeom>
        </p:spPr>
      </p:pic>
      <p:pic>
        <p:nvPicPr>
          <p:cNvPr id="52" name="Picture 51" descr="image.png"/>
          <p:cNvPicPr>
            <a:picLocks noChangeAspect="1"/>
          </p:cNvPicPr>
          <p:nvPr/>
        </p:nvPicPr>
        <p:blipFill>
          <a:blip r:embed="rId3"/>
          <a:stretch>
            <a:fillRect/>
          </a:stretch>
        </p:blipFill>
        <p:spPr>
          <a:xfrm>
            <a:off x="22402800" y="5074920"/>
            <a:ext cx="9144000" cy="7315200"/>
          </a:xfrm>
          <a:prstGeom prst="rect">
            <a:avLst/>
          </a:prstGeom>
        </p:spPr>
      </p:pic>
      <p:pic>
        <p:nvPicPr>
          <p:cNvPr id="53" name="Picture 52" descr="image.png"/>
          <p:cNvPicPr>
            <a:picLocks noChangeAspect="1"/>
          </p:cNvPicPr>
          <p:nvPr/>
        </p:nvPicPr>
        <p:blipFill>
          <a:blip r:embed="rId4"/>
          <a:stretch>
            <a:fillRect/>
          </a:stretch>
        </p:blipFill>
        <p:spPr>
          <a:xfrm>
            <a:off x="13716000" y="13213080"/>
            <a:ext cx="17373600" cy="11887200"/>
          </a:xfrm>
          <a:prstGeom prst="rect">
            <a:avLst/>
          </a:prstGeom>
        </p:spPr>
      </p:pic>
      <p:pic>
        <p:nvPicPr>
          <p:cNvPr id="54" name="Picture 53" descr="image.png"/>
          <p:cNvPicPr>
            <a:picLocks noChangeAspect="1"/>
          </p:cNvPicPr>
          <p:nvPr/>
        </p:nvPicPr>
        <p:blipFill>
          <a:blip r:embed="rId5"/>
          <a:stretch>
            <a:fillRect/>
          </a:stretch>
        </p:blipFill>
        <p:spPr>
          <a:xfrm>
            <a:off x="32232600" y="4389120"/>
            <a:ext cx="10972800" cy="7315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