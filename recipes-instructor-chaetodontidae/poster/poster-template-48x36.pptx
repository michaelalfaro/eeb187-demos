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6576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097280"/>
            <a:ext cx="4572000" cy="1371600"/>
          </a:xfrm>
          <a:prstGeom prst="rect">
            <a:avLst/>
          </a:prstGeom>
          <a:noFill/>
        </p:spPr>
        <p:txBody>
          <a:bodyPr wrap="square" tIns="91440" bIns="91440">
            <a:spAutoFit/>
          </a:bodyPr>
          <a:lstStyle/>
          <a:p>
            <a:pPr algn="l"/>
            <a:r>
              <a:rPr sz="2400" b="0" i="0">
                <a:solidFill>
                  <a:srgbClr val="FFFFFF"/>
                </a:solidFill>
                <a:latin typeface="Calibri"/>
              </a:rPr>
              <a:t>[UCLA LOGO]</a:t>
            </a:r>
          </a:p>
        </p:txBody>
      </p:sp>
      <p:sp>
        <p:nvSpPr>
          <p:cNvPr id="4" name="TextBox 3"/>
          <p:cNvSpPr txBox="1"/>
          <p:nvPr/>
        </p:nvSpPr>
        <p:spPr>
          <a:xfrm>
            <a:off x="5486400" y="365760"/>
            <a:ext cx="32918400" cy="1463040"/>
          </a:xfrm>
          <a:prstGeom prst="rect">
            <a:avLst/>
          </a:prstGeom>
          <a:noFill/>
        </p:spPr>
        <p:txBody>
          <a:bodyPr wrap="square" tIns="91440" bIns="91440">
            <a:spAutoFit/>
          </a:bodyPr>
          <a:lstStyle/>
          <a:p>
            <a:pPr algn="ctr"/>
            <a:r>
              <a:rPr sz="7200" b="1" i="0">
                <a:solidFill>
                  <a:srgbClr val="FFFFFF"/>
                </a:solidFill>
                <a:latin typeface="Calibri"/>
              </a:rPr>
              <a:t>[YOUR TITLE — under 15 words, state the biological result, not just the method]</a:t>
            </a:r>
          </a:p>
        </p:txBody>
      </p:sp>
      <p:sp>
        <p:nvSpPr>
          <p:cNvPr id="5" name="TextBox 4"/>
          <p:cNvSpPr txBox="1"/>
          <p:nvPr/>
        </p:nvSpPr>
        <p:spPr>
          <a:xfrm>
            <a:off x="5486400" y="1828800"/>
            <a:ext cx="32918400" cy="640080"/>
          </a:xfrm>
          <a:prstGeom prst="rect">
            <a:avLst/>
          </a:prstGeom>
          <a:noFill/>
        </p:spPr>
        <p:txBody>
          <a:bodyPr wrap="square" tIns="91440" bIns="91440">
            <a:spAutoFit/>
          </a:bodyPr>
          <a:lstStyle/>
          <a:p>
            <a:pPr algn="ctr"/>
            <a:r>
              <a:rPr sz="3600" b="0" i="0">
                <a:solidFill>
                  <a:srgbClr val="FFFFFF"/>
                </a:solidFill>
                <a:latin typeface="Calibri"/>
              </a:rPr>
              <a:t>[Author Names]</a:t>
            </a:r>
          </a:p>
        </p:txBody>
      </p:sp>
      <p:sp>
        <p:nvSpPr>
          <p:cNvPr id="6" name="TextBox 5"/>
          <p:cNvSpPr txBox="1"/>
          <p:nvPr/>
        </p:nvSpPr>
        <p:spPr>
          <a:xfrm>
            <a:off x="5486400" y="2468880"/>
            <a:ext cx="32918400" cy="548640"/>
          </a:xfrm>
          <a:prstGeom prst="rect">
            <a:avLst/>
          </a:prstGeom>
          <a:noFill/>
        </p:spPr>
        <p:txBody>
          <a:bodyPr wrap="square" tIns="91440" bIns="91440">
            <a:spAutoFit/>
          </a:bodyPr>
          <a:lstStyle/>
          <a:p>
            <a:pPr algn="ctr"/>
            <a:r>
              <a:rPr sz="2400" b="0" i="1">
                <a:solidFill>
                  <a:srgbClr val="FFFFFF"/>
                </a:solidFill>
                <a:latin typeface="Calibri"/>
              </a:rPr>
              <a:t>Department of Ecology and Evolutionary Biology · University of California, Los Angeles</a:t>
            </a:r>
          </a:p>
        </p:txBody>
      </p:sp>
      <p:sp>
        <p:nvSpPr>
          <p:cNvPr id="7" name="TextBox 6"/>
          <p:cNvSpPr txBox="1"/>
          <p:nvPr/>
        </p:nvSpPr>
        <p:spPr>
          <a:xfrm>
            <a:off x="38404800" y="1097280"/>
            <a:ext cx="5029200" cy="1371600"/>
          </a:xfrm>
          <a:prstGeom prst="rect">
            <a:avLst/>
          </a:prstGeom>
          <a:noFill/>
        </p:spPr>
        <p:txBody>
          <a:bodyPr wrap="square" tIns="91440" bIns="91440">
            <a:spAutoFit/>
          </a:bodyPr>
          <a:lstStyle/>
          <a:p>
            <a:pPr algn="r"/>
            <a:r>
              <a:rPr sz="2400" b="0" i="0">
                <a:solidFill>
                  <a:srgbClr val="FFFFFF"/>
                </a:solidFill>
                <a:latin typeface="Calibri"/>
              </a:rPr>
              <a:t>[EEB 187 · Spring 2026]</a:t>
            </a:r>
          </a:p>
        </p:txBody>
      </p:sp>
      <p:sp>
        <p:nvSpPr>
          <p:cNvPr id="8" name="Rectangle 7"/>
          <p:cNvSpPr/>
          <p:nvPr/>
        </p:nvSpPr>
        <p:spPr>
          <a:xfrm>
            <a:off x="0" y="3657600"/>
            <a:ext cx="43891200" cy="13716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389120"/>
            <a:ext cx="11887200" cy="548640"/>
          </a:xfrm>
          <a:prstGeom prst="rect">
            <a:avLst/>
          </a:prstGeom>
          <a:noFill/>
        </p:spPr>
        <p:txBody>
          <a:bodyPr wrap="square" lIns="0" rIns="0" tIns="0" bIns="0">
            <a:spAutoFit/>
          </a:bodyPr>
          <a:lstStyle/>
          <a:p>
            <a:pPr algn="l"/>
            <a:r>
              <a:rPr sz="3600" b="1" i="0">
                <a:solidFill>
                  <a:srgbClr val="003B5C"/>
                </a:solidFill>
                <a:latin typeface="Calibri"/>
              </a:rPr>
              <a:t>INTRODUCTION</a:t>
            </a:r>
          </a:p>
        </p:txBody>
      </p:sp>
      <p:sp>
        <p:nvSpPr>
          <p:cNvPr id="10" name="Rectangle 9"/>
          <p:cNvSpPr/>
          <p:nvPr/>
        </p:nvSpPr>
        <p:spPr>
          <a:xfrm>
            <a:off x="685800" y="489204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074920"/>
            <a:ext cx="11887200" cy="73152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[Provide 3-4 bullet points of background. What is the biological context? Why does color matter in your clade? What is known about color evolution in reef fishes?]</a:t>
            </a:r>
          </a:p>
        </p:txBody>
      </p:sp>
      <p:sp>
        <p:nvSpPr>
          <p:cNvPr id="12" name="TextBox 11"/>
          <p:cNvSpPr txBox="1"/>
          <p:nvPr/>
        </p:nvSpPr>
        <p:spPr>
          <a:xfrm>
            <a:off x="685800" y="12527280"/>
            <a:ext cx="11887200" cy="548640"/>
          </a:xfrm>
          <a:prstGeom prst="rect">
            <a:avLst/>
          </a:prstGeom>
          <a:noFill/>
        </p:spPr>
        <p:txBody>
          <a:bodyPr wrap="square" lIns="0" rIns="0" tIns="0" bIns="0">
            <a:spAutoFit/>
          </a:bodyPr>
          <a:lstStyle/>
          <a:p>
            <a:pPr algn="l"/>
            <a:r>
              <a:rPr sz="3600" b="1" i="0">
                <a:solidFill>
                  <a:srgbClr val="003B5C"/>
                </a:solidFill>
                <a:latin typeface="Calibri"/>
              </a:rPr>
              <a:t>RESEARCH QUESTION</a:t>
            </a:r>
          </a:p>
        </p:txBody>
      </p:sp>
      <p:sp>
        <p:nvSpPr>
          <p:cNvPr id="13" name="Rectangle 12"/>
          <p:cNvSpPr/>
          <p:nvPr/>
        </p:nvSpPr>
        <p:spPr>
          <a:xfrm>
            <a:off x="685800" y="1303020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5800" y="13213080"/>
            <a:ext cx="109728" cy="22860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13213080"/>
            <a:ext cx="11722608" cy="2286000"/>
          </a:xfrm>
          <a:prstGeom prst="rect">
            <a:avLst/>
          </a:prstGeom>
          <a:solidFill>
            <a:srgbClr val="FFFFFF"/>
          </a:solidFill>
          <a:ln w="12700">
            <a:solidFill>
              <a:srgbClr val="CCCCCC"/>
            </a:solidFill>
          </a:ln>
        </p:spPr>
        <p:txBody>
          <a:bodyPr wrap="square" lIns="137160" rIns="137160" tIns="137160" bIns="137160">
            <a:spAutoFit/>
          </a:bodyPr>
          <a:lstStyle/>
          <a:p>
            <a:pPr algn="l"/>
            <a:r>
              <a:rPr sz="2800" b="1" i="0">
                <a:solidFill>
                  <a:srgbClr val="333333"/>
                </a:solidFill>
                <a:latin typeface="Calibri"/>
              </a:rPr>
              <a:t>[State your research question as a single sentence. Example: Does color-pattern complexity correlate with ecological traits in butterflyfishes?]</a:t>
            </a:r>
          </a:p>
        </p:txBody>
      </p:sp>
      <p:sp>
        <p:nvSpPr>
          <p:cNvPr id="16" name="TextBox 15"/>
          <p:cNvSpPr txBox="1"/>
          <p:nvPr/>
        </p:nvSpPr>
        <p:spPr>
          <a:xfrm>
            <a:off x="685800" y="15636240"/>
            <a:ext cx="11887200" cy="548640"/>
          </a:xfrm>
          <a:prstGeom prst="rect">
            <a:avLst/>
          </a:prstGeom>
          <a:noFill/>
        </p:spPr>
        <p:txBody>
          <a:bodyPr wrap="square" lIns="0" rIns="0" tIns="0" bIns="0">
            <a:spAutoFit/>
          </a:bodyPr>
          <a:lstStyle/>
          <a:p>
            <a:pPr algn="l"/>
            <a:r>
              <a:rPr sz="3600" b="1" i="0">
                <a:solidFill>
                  <a:srgbClr val="003B5C"/>
                </a:solidFill>
                <a:latin typeface="Calibri"/>
              </a:rPr>
              <a:t>HYPOTHESIS</a:t>
            </a:r>
          </a:p>
        </p:txBody>
      </p:sp>
      <p:sp>
        <p:nvSpPr>
          <p:cNvPr id="17" name="Rectangle 16"/>
          <p:cNvSpPr/>
          <p:nvPr/>
        </p:nvSpPr>
        <p:spPr>
          <a:xfrm>
            <a:off x="685800" y="1613916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16322040"/>
            <a:ext cx="11887200" cy="27432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[State your hypothesis with testable predictions. Example: If color-pattern diversity is shaped by ecological selective pressures, we predict: (1) moderate phylogenetic signal (K &lt; 1), (2) significant PGLS relationships between color PC axes and trophic level or body size, and (3) convergent color patterns among ecologically similar species.]</a:t>
            </a:r>
          </a:p>
        </p:txBody>
      </p:sp>
      <p:sp>
        <p:nvSpPr>
          <p:cNvPr id="19" name="TextBox 18"/>
          <p:cNvSpPr txBox="1"/>
          <p:nvPr/>
        </p:nvSpPr>
        <p:spPr>
          <a:xfrm>
            <a:off x="685800" y="19202400"/>
            <a:ext cx="11887200" cy="548640"/>
          </a:xfrm>
          <a:prstGeom prst="rect">
            <a:avLst/>
          </a:prstGeom>
          <a:noFill/>
        </p:spPr>
        <p:txBody>
          <a:bodyPr wrap="square" lIns="0" rIns="0" tIns="0" bIns="0">
            <a:spAutoFit/>
          </a:bodyPr>
          <a:lstStyle/>
          <a:p>
            <a:pPr algn="l"/>
            <a:r>
              <a:rPr sz="3600" b="1" i="0">
                <a:solidFill>
                  <a:srgbClr val="003B5C"/>
                </a:solidFill>
                <a:latin typeface="Calibri"/>
              </a:rPr>
              <a:t>METHODS</a:t>
            </a:r>
          </a:p>
        </p:txBody>
      </p:sp>
      <p:sp>
        <p:nvSpPr>
          <p:cNvPr id="20" name="Rectangle 19"/>
          <p:cNvSpPr/>
          <p:nvPr/>
        </p:nvSpPr>
        <p:spPr>
          <a:xfrm>
            <a:off x="685800" y="19705320"/>
            <a:ext cx="118872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19888200"/>
            <a:ext cx="11887200" cy="73152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[Describe your analytical pipeline:
• Image source (FishView server, N species)
• Color quantification (pavo: adjacency analysis, k-means clustering)
• Phylogenetic comparative methods (Blomberg’s K, phyloPCA, PGLS)
• Tree source and calibration
• Statistical software (R packages: pavo, phytools, ape, nlme)]</a:t>
            </a:r>
          </a:p>
        </p:txBody>
      </p:sp>
      <p:sp>
        <p:nvSpPr>
          <p:cNvPr id="22" name="TextBox 21"/>
          <p:cNvSpPr txBox="1"/>
          <p:nvPr/>
        </p:nvSpPr>
        <p:spPr>
          <a:xfrm>
            <a:off x="13258800" y="4389120"/>
            <a:ext cx="18288000" cy="548640"/>
          </a:xfrm>
          <a:prstGeom prst="rect">
            <a:avLst/>
          </a:prstGeom>
          <a:noFill/>
        </p:spPr>
        <p:txBody>
          <a:bodyPr wrap="square" lIns="0" rIns="0" tIns="0" bIns="0">
            <a:spAutoFit/>
          </a:bodyPr>
          <a:lstStyle/>
          <a:p>
            <a:pPr algn="l"/>
            <a:r>
              <a:rPr sz="3600" b="1" i="0">
                <a:solidFill>
                  <a:srgbClr val="003B5C"/>
                </a:solidFill>
                <a:latin typeface="Calibri"/>
              </a:rPr>
              <a:t>RESULTS</a:t>
            </a:r>
          </a:p>
        </p:txBody>
      </p:sp>
      <p:sp>
        <p:nvSpPr>
          <p:cNvPr id="23" name="Rectangle 22"/>
          <p:cNvSpPr/>
          <p:nvPr/>
        </p:nvSpPr>
        <p:spPr>
          <a:xfrm>
            <a:off x="13258800" y="4892040"/>
            <a:ext cx="182880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3258800" y="5074920"/>
            <a:ext cx="8229600" cy="731520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350240" y="5166359"/>
            <a:ext cx="1645920" cy="365760"/>
          </a:xfrm>
          <a:prstGeom prst="rect">
            <a:avLst/>
          </a:prstGeom>
          <a:noFill/>
        </p:spPr>
        <p:txBody>
          <a:bodyPr wrap="square" lIns="45720" rIns="45720">
            <a:spAutoFit/>
          </a:bodyPr>
          <a:lstStyle/>
          <a:p>
            <a:pPr algn="l"/>
            <a:r>
              <a:rPr sz="1800" b="1" i="0">
                <a:solidFill>
                  <a:srgbClr val="003B5C"/>
                </a:solidFill>
                <a:latin typeface="Calibri"/>
              </a:rPr>
              <a:t>PANEL A</a:t>
            </a:r>
          </a:p>
        </p:txBody>
      </p:sp>
      <p:sp>
        <p:nvSpPr>
          <p:cNvPr id="26" name="TextBox 25"/>
          <p:cNvSpPr txBox="1"/>
          <p:nvPr/>
        </p:nvSpPr>
        <p:spPr>
          <a:xfrm>
            <a:off x="13258800" y="5074920"/>
            <a:ext cx="8229600" cy="7315200"/>
          </a:xfrm>
          <a:prstGeom prst="rect">
            <a:avLst/>
          </a:prstGeom>
          <a:noFill/>
        </p:spPr>
        <p:txBody a:anchor="ctr">
          <a:bodyPr wrap="square" lIns="137160" rIns="137160" tIns="137160" bIns="137160">
            <a:spAutoFit/>
          </a:bodyPr>
          <a:lstStyle/>
          <a:p>
            <a:pPr algn="ctr"/>
            <a:r>
              <a:rPr sz="2400" b="0" i="1">
                <a:solidFill>
                  <a:srgbClr val="999999"/>
                </a:solidFill>
                <a:latin typeface="Calibri"/>
              </a:rPr>
              <a:t>[INSERT COLOR GAMUT HERO PDF]</a:t>
            </a:r>
          </a:p>
        </p:txBody>
      </p:sp>
      <p:sp>
        <p:nvSpPr>
          <p:cNvPr id="27" name="TextBox 26"/>
          <p:cNvSpPr txBox="1"/>
          <p:nvPr/>
        </p:nvSpPr>
        <p:spPr>
          <a:xfrm>
            <a:off x="13258800" y="12481560"/>
            <a:ext cx="8229600" cy="457200"/>
          </a:xfrm>
          <a:prstGeom prst="rect">
            <a:avLst/>
          </a:prstGeom>
          <a:noFill/>
        </p:spPr>
        <p:txBody>
          <a:bodyPr wrap="square" lIns="45720" rIns="45720">
            <a:spAutoFit/>
          </a:bodyPr>
          <a:lstStyle/>
          <a:p>
            <a:pPr algn="l"/>
            <a:r>
              <a:rPr sz="2000" b="0" i="1">
                <a:solidFill>
                  <a:srgbClr val="333333"/>
                </a:solidFill>
                <a:latin typeface="Calibri"/>
              </a:rPr>
              <a:t>Figure 1. [Describe what the gamut shows + state the gamut volume. Example: 'Color gamut of [Family] spanning X% of RGB space.']</a:t>
            </a:r>
          </a:p>
        </p:txBody>
      </p:sp>
      <p:sp>
        <p:nvSpPr>
          <p:cNvPr id="28" name="Rectangle 27"/>
          <p:cNvSpPr/>
          <p:nvPr/>
        </p:nvSpPr>
        <p:spPr>
          <a:xfrm>
            <a:off x="22402800" y="5074920"/>
            <a:ext cx="9144000" cy="731520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494240" y="5166359"/>
            <a:ext cx="1645920" cy="365760"/>
          </a:xfrm>
          <a:prstGeom prst="rect">
            <a:avLst/>
          </a:prstGeom>
          <a:noFill/>
        </p:spPr>
        <p:txBody>
          <a:bodyPr wrap="square" lIns="45720" rIns="45720">
            <a:spAutoFit/>
          </a:bodyPr>
          <a:lstStyle/>
          <a:p>
            <a:pPr algn="l"/>
            <a:r>
              <a:rPr sz="1800" b="1" i="0">
                <a:solidFill>
                  <a:srgbClr val="003B5C"/>
                </a:solidFill>
                <a:latin typeface="Calibri"/>
              </a:rPr>
              <a:t>PANEL B</a:t>
            </a:r>
          </a:p>
        </p:txBody>
      </p:sp>
      <p:sp>
        <p:nvSpPr>
          <p:cNvPr id="30" name="TextBox 29"/>
          <p:cNvSpPr txBox="1"/>
          <p:nvPr/>
        </p:nvSpPr>
        <p:spPr>
          <a:xfrm>
            <a:off x="22402800" y="5074920"/>
            <a:ext cx="9144000" cy="7315200"/>
          </a:xfrm>
          <a:prstGeom prst="rect">
            <a:avLst/>
          </a:prstGeom>
          <a:noFill/>
        </p:spPr>
        <p:txBody a:anchor="ctr">
          <a:bodyPr wrap="square" lIns="137160" rIns="137160" tIns="137160" bIns="137160">
            <a:spAutoFit/>
          </a:bodyPr>
          <a:lstStyle/>
          <a:p>
            <a:pPr algn="ctr"/>
            <a:r>
              <a:rPr sz="2400" b="0" i="1">
                <a:solidFill>
                  <a:srgbClr val="999999"/>
                </a:solidFill>
                <a:latin typeface="Calibri"/>
              </a:rPr>
              <a:t>[INSERT PHYLOMORPHOSPACE HERO PDF]</a:t>
            </a:r>
          </a:p>
        </p:txBody>
      </p:sp>
      <p:sp>
        <p:nvSpPr>
          <p:cNvPr id="31" name="TextBox 30"/>
          <p:cNvSpPr txBox="1"/>
          <p:nvPr/>
        </p:nvSpPr>
        <p:spPr>
          <a:xfrm>
            <a:off x="22402800" y="12481560"/>
            <a:ext cx="9144000" cy="457200"/>
          </a:xfrm>
          <a:prstGeom prst="rect">
            <a:avLst/>
          </a:prstGeom>
          <a:noFill/>
        </p:spPr>
        <p:txBody>
          <a:bodyPr wrap="square" lIns="45720" rIns="45720">
            <a:spAutoFit/>
          </a:bodyPr>
          <a:lstStyle/>
          <a:p>
            <a:pPr algn="l"/>
            <a:r>
              <a:rPr sz="2000" b="0" i="1">
                <a:solidFill>
                  <a:srgbClr val="333333"/>
                </a:solidFill>
                <a:latin typeface="Calibri"/>
              </a:rPr>
              <a:t>Figure 2. [Describe species positions in PC space + note any clustering. Example: 'Phylomorphospace showing convergence among genera X and Y.']</a:t>
            </a:r>
          </a:p>
        </p:txBody>
      </p:sp>
      <p:sp>
        <p:nvSpPr>
          <p:cNvPr id="32" name="Rectangle 31"/>
          <p:cNvSpPr/>
          <p:nvPr/>
        </p:nvSpPr>
        <p:spPr>
          <a:xfrm>
            <a:off x="13716000" y="13213080"/>
            <a:ext cx="17373600" cy="1188720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807440" y="13304520"/>
            <a:ext cx="1645920" cy="365760"/>
          </a:xfrm>
          <a:prstGeom prst="rect">
            <a:avLst/>
          </a:prstGeom>
          <a:noFill/>
        </p:spPr>
        <p:txBody>
          <a:bodyPr wrap="square" lIns="45720" rIns="45720">
            <a:spAutoFit/>
          </a:bodyPr>
          <a:lstStyle/>
          <a:p>
            <a:pPr algn="l"/>
            <a:r>
              <a:rPr sz="1800" b="1" i="0">
                <a:solidFill>
                  <a:srgbClr val="003B5C"/>
                </a:solidFill>
                <a:latin typeface="Calibri"/>
              </a:rPr>
              <a:t>PANEL C</a:t>
            </a:r>
          </a:p>
        </p:txBody>
      </p:sp>
      <p:sp>
        <p:nvSpPr>
          <p:cNvPr id="34" name="TextBox 33"/>
          <p:cNvSpPr txBox="1"/>
          <p:nvPr/>
        </p:nvSpPr>
        <p:spPr>
          <a:xfrm>
            <a:off x="13716000" y="13213080"/>
            <a:ext cx="17373600" cy="11887200"/>
          </a:xfrm>
          <a:prstGeom prst="rect">
            <a:avLst/>
          </a:prstGeom>
          <a:noFill/>
        </p:spPr>
        <p:txBody a:anchor="ctr">
          <a:bodyPr wrap="square" lIns="137160" rIns="137160" tIns="137160" bIns="137160">
            <a:spAutoFit/>
          </a:bodyPr>
          <a:lstStyle/>
          <a:p>
            <a:pPr algn="ctr"/>
            <a:r>
              <a:rPr sz="2400" b="0" i="1">
                <a:solidFill>
                  <a:srgbClr val="999999"/>
                </a:solidFill>
                <a:latin typeface="Calibri"/>
              </a:rPr>
              <a:t>[INSERT PHYLOGENY + TRAITS HERO PDF]</a:t>
            </a:r>
          </a:p>
        </p:txBody>
      </p:sp>
      <p:sp>
        <p:nvSpPr>
          <p:cNvPr id="35" name="TextBox 34"/>
          <p:cNvSpPr txBox="1"/>
          <p:nvPr/>
        </p:nvSpPr>
        <p:spPr>
          <a:xfrm>
            <a:off x="13716000" y="25191720"/>
            <a:ext cx="17373600" cy="457200"/>
          </a:xfrm>
          <a:prstGeom prst="rect">
            <a:avLst/>
          </a:prstGeom>
          <a:noFill/>
        </p:spPr>
        <p:txBody>
          <a:bodyPr wrap="square" lIns="45720" rIns="45720">
            <a:spAutoFit/>
          </a:bodyPr>
          <a:lstStyle/>
          <a:p>
            <a:pPr algn="l"/>
            <a:r>
              <a:rPr sz="2000" b="0" i="1">
                <a:solidFill>
                  <a:srgbClr val="333333"/>
                </a:solidFill>
                <a:latin typeface="Calibri"/>
              </a:rPr>
              <a:t>Figure 3. [Describe the ASR pattern + one key clade shift. Example: 'PC1 ancestral reconstruction reveals an early shift in Clade X.']</a:t>
            </a:r>
          </a:p>
        </p:txBody>
      </p:sp>
      <p:sp>
        <p:nvSpPr>
          <p:cNvPr id="36" name="Rectangle 35"/>
          <p:cNvSpPr/>
          <p:nvPr/>
        </p:nvSpPr>
        <p:spPr>
          <a:xfrm>
            <a:off x="32232600" y="4389120"/>
            <a:ext cx="10972800" cy="7315200"/>
          </a:xfrm>
          <a:prstGeom prst="rect">
            <a:avLst/>
          </a:prstGeom>
          <a:solidFill>
            <a:srgbClr val="F0F0F0"/>
          </a:solidFill>
          <a:ln w="1270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324040" y="4480559"/>
            <a:ext cx="1645920" cy="365760"/>
          </a:xfrm>
          <a:prstGeom prst="rect">
            <a:avLst/>
          </a:prstGeom>
          <a:noFill/>
        </p:spPr>
        <p:txBody>
          <a:bodyPr wrap="square" lIns="45720" rIns="45720">
            <a:spAutoFit/>
          </a:bodyPr>
          <a:lstStyle/>
          <a:p>
            <a:pPr algn="l"/>
            <a:r>
              <a:rPr sz="1800" b="1" i="0">
                <a:solidFill>
                  <a:srgbClr val="003B5C"/>
                </a:solidFill>
                <a:latin typeface="Calibri"/>
              </a:rPr>
              <a:t>PANEL D</a:t>
            </a:r>
          </a:p>
        </p:txBody>
      </p:sp>
      <p:sp>
        <p:nvSpPr>
          <p:cNvPr id="38" name="TextBox 37"/>
          <p:cNvSpPr txBox="1"/>
          <p:nvPr/>
        </p:nvSpPr>
        <p:spPr>
          <a:xfrm>
            <a:off x="32232600" y="4389120"/>
            <a:ext cx="10972800" cy="7315200"/>
          </a:xfrm>
          <a:prstGeom prst="rect">
            <a:avLst/>
          </a:prstGeom>
          <a:noFill/>
        </p:spPr>
        <p:txBody a:anchor="ctr">
          <a:bodyPr wrap="square" lIns="137160" rIns="137160" tIns="137160" bIns="137160">
            <a:spAutoFit/>
          </a:bodyPr>
          <a:lstStyle/>
          <a:p>
            <a:pPr algn="ctr"/>
            <a:r>
              <a:rPr sz="2400" b="0" i="1">
                <a:solidFill>
                  <a:srgbClr val="999999"/>
                </a:solidFill>
                <a:latin typeface="Calibri"/>
              </a:rPr>
              <a:t>[INSERT PGLS HERO PDF]</a:t>
            </a:r>
          </a:p>
        </p:txBody>
      </p:sp>
      <p:sp>
        <p:nvSpPr>
          <p:cNvPr id="39" name="TextBox 38"/>
          <p:cNvSpPr txBox="1"/>
          <p:nvPr/>
        </p:nvSpPr>
        <p:spPr>
          <a:xfrm>
            <a:off x="32232600" y="11795760"/>
            <a:ext cx="10972800" cy="457200"/>
          </a:xfrm>
          <a:prstGeom prst="rect">
            <a:avLst/>
          </a:prstGeom>
          <a:noFill/>
        </p:spPr>
        <p:txBody>
          <a:bodyPr wrap="square" lIns="45720" rIns="45720">
            <a:spAutoFit/>
          </a:bodyPr>
          <a:lstStyle/>
          <a:p>
            <a:pPr algn="l"/>
            <a:r>
              <a:rPr sz="2000" b="0" i="1">
                <a:solidFill>
                  <a:srgbClr val="333333"/>
                </a:solidFill>
                <a:latin typeface="Calibri"/>
              </a:rPr>
              <a:t>Figure 4. [State the PGLS result + p-value + direction. Example: 'Trophic level significantly predicts PC2 (p = 0.003, slope = -0.20).']</a:t>
            </a:r>
          </a:p>
        </p:txBody>
      </p:sp>
      <p:sp>
        <p:nvSpPr>
          <p:cNvPr id="40" name="TextBox 39"/>
          <p:cNvSpPr txBox="1"/>
          <p:nvPr/>
        </p:nvSpPr>
        <p:spPr>
          <a:xfrm>
            <a:off x="32232600" y="12527280"/>
            <a:ext cx="10972800" cy="548640"/>
          </a:xfrm>
          <a:prstGeom prst="rect">
            <a:avLst/>
          </a:prstGeom>
          <a:noFill/>
        </p:spPr>
        <p:txBody>
          <a:bodyPr wrap="square" lIns="0" rIns="0" tIns="0" bIns="0">
            <a:spAutoFit/>
          </a:bodyPr>
          <a:lstStyle/>
          <a:p>
            <a:pPr algn="l"/>
            <a:r>
              <a:rPr sz="3600" b="1" i="0">
                <a:solidFill>
                  <a:srgbClr val="003B5C"/>
                </a:solidFill>
                <a:latin typeface="Calibri"/>
              </a:rPr>
              <a:t>DISCUSSION</a:t>
            </a:r>
          </a:p>
        </p:txBody>
      </p:sp>
      <p:sp>
        <p:nvSpPr>
          <p:cNvPr id="41" name="Rectangle 40"/>
          <p:cNvSpPr/>
          <p:nvPr/>
        </p:nvSpPr>
        <p:spPr>
          <a:xfrm>
            <a:off x="32232600" y="1303020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232600" y="13213080"/>
            <a:ext cx="10972800" cy="45720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[Interpret your results. How do they relate to your research question? How do they compare to findings in other reef fish clades? What ecological or evolutionary processes might explain the patterns?]</a:t>
            </a:r>
          </a:p>
        </p:txBody>
      </p:sp>
      <p:sp>
        <p:nvSpPr>
          <p:cNvPr id="43" name="TextBox 42"/>
          <p:cNvSpPr txBox="1"/>
          <p:nvPr/>
        </p:nvSpPr>
        <p:spPr>
          <a:xfrm>
            <a:off x="32232600" y="17922240"/>
            <a:ext cx="10972800" cy="548640"/>
          </a:xfrm>
          <a:prstGeom prst="rect">
            <a:avLst/>
          </a:prstGeom>
          <a:noFill/>
        </p:spPr>
        <p:txBody>
          <a:bodyPr wrap="square" lIns="0" rIns="0" tIns="0" bIns="0">
            <a:spAutoFit/>
          </a:bodyPr>
          <a:lstStyle/>
          <a:p>
            <a:pPr algn="l"/>
            <a:r>
              <a:rPr sz="3600" b="1" i="0">
                <a:solidFill>
                  <a:srgbClr val="003B5C"/>
                </a:solidFill>
                <a:latin typeface="Calibri"/>
              </a:rPr>
              <a:t>CONCLUSIONS</a:t>
            </a:r>
          </a:p>
        </p:txBody>
      </p:sp>
      <p:sp>
        <p:nvSpPr>
          <p:cNvPr id="44" name="Rectangle 43"/>
          <p:cNvSpPr/>
          <p:nvPr/>
        </p:nvSpPr>
        <p:spPr>
          <a:xfrm>
            <a:off x="32232600" y="1842516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32600" y="18608040"/>
            <a:ext cx="10972800" cy="2743200"/>
          </a:xfrm>
          <a:prstGeom prst="rect">
            <a:avLst/>
          </a:prstGeom>
          <a:solidFill>
            <a:srgbClr val="FFFFFF"/>
          </a:solidFill>
          <a:ln w="12700">
            <a:solidFill>
              <a:srgbClr val="CCCCCC"/>
            </a:solidFill>
          </a:ln>
        </p:spPr>
        <p:txBody>
          <a:bodyPr wrap="square" lIns="137160" rIns="137160" tIns="137160" bIns="137160">
            <a:spAutoFit/>
          </a:bodyPr>
          <a:lstStyle/>
          <a:p>
            <a:pPr algn="l"/>
            <a:r>
              <a:rPr sz="2400" b="1" i="0">
                <a:solidFill>
                  <a:srgbClr val="333333"/>
                </a:solidFill>
                <a:latin typeface="Calibri"/>
              </a:rPr>
              <a:t>[State 2-3 key takeaway bullets:
• Bullet 1: Main finding about phylogenetic signal
• Bullet 2: Main finding about ecology-color relationship
• Bullet 3: Broader significance]</a:t>
            </a:r>
          </a:p>
        </p:txBody>
      </p:sp>
      <p:sp>
        <p:nvSpPr>
          <p:cNvPr id="46" name="TextBox 45"/>
          <p:cNvSpPr txBox="1"/>
          <p:nvPr/>
        </p:nvSpPr>
        <p:spPr>
          <a:xfrm>
            <a:off x="32232600" y="21488400"/>
            <a:ext cx="10972800" cy="548640"/>
          </a:xfrm>
          <a:prstGeom prst="rect">
            <a:avLst/>
          </a:prstGeom>
          <a:noFill/>
        </p:spPr>
        <p:txBody>
          <a:bodyPr wrap="square" lIns="0" rIns="0" tIns="0" bIns="0">
            <a:spAutoFit/>
          </a:bodyPr>
          <a:lstStyle/>
          <a:p>
            <a:pPr algn="l"/>
            <a:r>
              <a:rPr sz="3600" b="1" i="0">
                <a:solidFill>
                  <a:srgbClr val="003B5C"/>
                </a:solidFill>
                <a:latin typeface="Calibri"/>
              </a:rPr>
              <a:t>FUTURE DIRECTIONS</a:t>
            </a:r>
          </a:p>
        </p:txBody>
      </p:sp>
      <p:sp>
        <p:nvSpPr>
          <p:cNvPr id="47" name="Rectangle 46"/>
          <p:cNvSpPr/>
          <p:nvPr/>
        </p:nvSpPr>
        <p:spPr>
          <a:xfrm>
            <a:off x="32232600" y="2199132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2232600" y="22174200"/>
            <a:ext cx="10972800" cy="1828800"/>
          </a:xfrm>
          <a:prstGeom prst="rect">
            <a:avLst/>
          </a:prstGeom>
          <a:solidFill>
            <a:srgbClr val="FFFFFF"/>
          </a:solidFill>
          <a:ln w="12700">
            <a:solidFill>
              <a:srgbClr val="CCCCCC"/>
            </a:solidFill>
          </a:ln>
        </p:spPr>
        <p:txBody>
          <a:bodyPr wrap="square" lIns="137160" rIns="137160" tIns="137160" bIns="137160">
            <a:spAutoFit/>
          </a:bodyPr>
          <a:lstStyle/>
          <a:p>
            <a:pPr algn="l"/>
            <a:r>
              <a:rPr sz="2400" b="0" i="0">
                <a:solidFill>
                  <a:srgbClr val="333333"/>
                </a:solidFill>
                <a:latin typeface="Calibri"/>
              </a:rPr>
              <a:t>[1-2 sentences about next steps or new questions raised]</a:t>
            </a:r>
          </a:p>
        </p:txBody>
      </p:sp>
      <p:sp>
        <p:nvSpPr>
          <p:cNvPr id="49" name="TextBox 48"/>
          <p:cNvSpPr txBox="1"/>
          <p:nvPr/>
        </p:nvSpPr>
        <p:spPr>
          <a:xfrm>
            <a:off x="32232600" y="24140160"/>
            <a:ext cx="10972800" cy="548640"/>
          </a:xfrm>
          <a:prstGeom prst="rect">
            <a:avLst/>
          </a:prstGeom>
          <a:noFill/>
        </p:spPr>
        <p:txBody>
          <a:bodyPr wrap="square" lIns="0" rIns="0" tIns="0" bIns="0">
            <a:spAutoFit/>
          </a:bodyPr>
          <a:lstStyle/>
          <a:p>
            <a:pPr algn="l"/>
            <a:r>
              <a:rPr sz="3600" b="1" i="0">
                <a:solidFill>
                  <a:srgbClr val="003B5C"/>
                </a:solidFill>
                <a:latin typeface="Calibri"/>
              </a:rPr>
              <a:t>REFERENCES</a:t>
            </a:r>
          </a:p>
        </p:txBody>
      </p:sp>
      <p:sp>
        <p:nvSpPr>
          <p:cNvPr id="50" name="Rectangle 49"/>
          <p:cNvSpPr/>
          <p:nvPr/>
        </p:nvSpPr>
        <p:spPr>
          <a:xfrm>
            <a:off x="32232600" y="24643080"/>
            <a:ext cx="10972800" cy="38100"/>
          </a:xfrm>
          <a:prstGeom prst="rect">
            <a:avLst/>
          </a:prstGeom>
          <a:solidFill>
            <a:srgbClr val="FFD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2232600" y="24825960"/>
            <a:ext cx="10972800" cy="2743200"/>
          </a:xfrm>
          <a:prstGeom prst="rect">
            <a:avLst/>
          </a:prstGeom>
          <a:solidFill>
            <a:srgbClr val="FFFFFF"/>
          </a:solidFill>
          <a:ln w="12700">
            <a:solidFill>
              <a:srgbClr val="CCCCCC"/>
            </a:solidFill>
          </a:ln>
        </p:spPr>
        <p:txBody>
          <a:bodyPr wrap="square" lIns="137160" rIns="137160" tIns="137160" bIns="137160">
            <a:spAutoFit/>
          </a:bodyPr>
          <a:lstStyle/>
          <a:p>
            <a:pPr algn="l"/>
            <a:r>
              <a:rPr sz="1800" b="0" i="0">
                <a:solidFill>
                  <a:srgbClr val="333333"/>
                </a:solidFill>
                <a:latin typeface="Calibri"/>
              </a:rPr>
              <a:t>[List 3-5 key references in APA format]</a:t>
            </a:r>
          </a:p>
        </p:txBody>
      </p:sp>
      <p:sp>
        <p:nvSpPr>
          <p:cNvPr id="52" name="TextBox 51"/>
          <p:cNvSpPr txBox="1"/>
          <p:nvPr/>
        </p:nvSpPr>
        <p:spPr>
          <a:xfrm>
            <a:off x="685800" y="31089600"/>
            <a:ext cx="42519600" cy="365760"/>
          </a:xfrm>
          <a:prstGeom prst="rect">
            <a:avLst/>
          </a:prstGeom>
          <a:noFill/>
        </p:spPr>
        <p:txBody>
          <a:bodyPr wrap="square" lIns="45720" rIns="45720">
            <a:spAutoFit/>
          </a:bodyPr>
          <a:lstStyle/>
          <a:p>
            <a:pPr algn="ctr"/>
            <a:r>
              <a:rPr sz="1600" b="1" i="1">
                <a:solidFill>
                  <a:srgbClr val="2774AE"/>
                </a:solidFill>
                <a:latin typeface="Calibri"/>
              </a:rPr>
              <a:t>REMINDER: Delete all [bracketed placeholder text] before printing. Save as PDF for the print shop.</a:t>
            </a:r>
          </a:p>
        </p:txBody>
      </p:sp>
      <p:sp>
        <p:nvSpPr>
          <p:cNvPr id="53" name="Rectangle 52"/>
          <p:cNvSpPr/>
          <p:nvPr/>
        </p:nvSpPr>
        <p:spPr>
          <a:xfrm>
            <a:off x="0" y="31546800"/>
            <a:ext cx="43891200" cy="1371600"/>
          </a:xfrm>
          <a:prstGeom prst="rect">
            <a:avLst/>
          </a:prstGeom>
          <a:solidFill>
            <a:srgbClr val="003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31683960"/>
            <a:ext cx="4572000" cy="914400"/>
          </a:xfrm>
          <a:prstGeom prst="rect">
            <a:avLst/>
          </a:prstGeom>
          <a:noFill/>
        </p:spPr>
        <p:txBody>
          <a:bodyPr wrap="square" tIns="91440" bIns="91440">
            <a:spAutoFit/>
          </a:bodyPr>
          <a:lstStyle/>
          <a:p>
            <a:pPr algn="l"/>
            <a:r>
              <a:rPr sz="2000" b="1" i="0">
                <a:solidFill>
                  <a:srgbClr val="FFD100"/>
                </a:solidFill>
                <a:latin typeface="Calibri"/>
              </a:rPr>
              <a:t>ACKNOWLEDGMENTS</a:t>
            </a:r>
          </a:p>
        </p:txBody>
      </p:sp>
      <p:sp>
        <p:nvSpPr>
          <p:cNvPr id="55" name="TextBox 54"/>
          <p:cNvSpPr txBox="1"/>
          <p:nvPr/>
        </p:nvSpPr>
        <p:spPr>
          <a:xfrm>
            <a:off x="5486400" y="31683960"/>
            <a:ext cx="37947600" cy="914400"/>
          </a:xfrm>
          <a:prstGeom prst="rect">
            <a:avLst/>
          </a:prstGeom>
          <a:noFill/>
        </p:spPr>
        <p:txBody>
          <a:bodyPr wrap="square" tIns="91440" bIns="91440">
            <a:spAutoFit/>
          </a:bodyPr>
          <a:lstStyle/>
          <a:p>
            <a:pPr algn="l"/>
            <a:r>
              <a:rPr sz="1800" b="0" i="0">
                <a:solidFill>
                  <a:srgbClr val="FFFFFF"/>
                </a:solidFill>
                <a:latin typeface="Calibri"/>
              </a:rPr>
              <a:t>[We thank Dr. Michael Alfaro and the EEB 187 teaching team. Fish images sourced from FishView. Phylogeny from [source]. Supported by a TLC Seed Grant.]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