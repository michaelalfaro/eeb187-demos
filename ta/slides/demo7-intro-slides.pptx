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186/s12915-026-02544-4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 7 — Mapping Color Patterns onto a Phylogeny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EEB 187: Ecology and Evolution of Color</a:t>
            </a:r>
            <a:br/>
            <a:br/>
            <a:r>
              <a:rPr/>
              <a:t>Week 8 Demo Section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big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closely related fish species have similar color patterns?</a:t>
            </a:r>
          </a:p>
          <a:p>
            <a:pPr lvl="0" indent="0" marL="0">
              <a:buNone/>
            </a:pPr>
            <a:r>
              <a:rPr/>
              <a:t>Or does natural selection override evolutionary history?</a:t>
            </a:r>
          </a:p>
          <a:p>
            <a:pPr lvl="0" indent="0" marL="0">
              <a:buNone/>
            </a:pPr>
            <a:r>
              <a:rPr/>
              <a:t>We’ll answer this with data, a phylogeny, and two statistical tests.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phylogeny?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family tree</a:t>
            </a:r>
            <a:r>
              <a:rPr/>
              <a:t> for species</a:t>
            </a:r>
          </a:p>
          <a:p>
            <a:pPr lvl="0"/>
            <a:r>
              <a:rPr/>
              <a:t>Branch lengths = </a:t>
            </a:r>
            <a:r>
              <a:rPr b="1"/>
              <a:t>time</a:t>
            </a:r>
            <a:r>
              <a:rPr/>
              <a:t> (millions of years)</a:t>
            </a:r>
          </a:p>
          <a:p>
            <a:pPr lvl="0"/>
            <a:r>
              <a:rPr/>
              <a:t>Closely related species share a recent </a:t>
            </a:r>
            <a:r>
              <a:rPr b="1"/>
              <a:t>common ancestor</a:t>
            </a:r>
          </a:p>
          <a:p>
            <a:pPr lvl="0"/>
            <a:r>
              <a:rPr/>
              <a:t>The tree is estimated from DNA sequences</a:t>
            </a:r>
          </a:p>
          <a:p>
            <a:pPr lvl="0" indent="0" marL="0">
              <a:buNone/>
            </a:pPr>
            <a:r>
              <a:rPr b="1"/>
              <a:t>Today’s tree:</a:t>
            </a:r>
            <a:r>
              <a:rPr/>
              <a:t> 65 surgeonfish species (</a:t>
            </a:r>
            <a:r>
              <a:rPr i="1"/>
              <a:t>Acanthuridae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Root age: </a:t>
            </a:r>
            <a:r>
              <a:rPr b="1"/>
              <a:t>65 million years</a:t>
            </a:r>
            <a:r>
              <a:rPr/>
              <a:t> — right at the end-Cretaceous extinction!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┌── Acanthurus
    ┌───┤
    │   └── Ctenochaetus
────┤
    │   ┌── Zebrasoma
    └───┤
        └── Naso</a:t>
            </a:r>
          </a:p>
          <a:p>
            <a:pPr lvl="0" indent="0" marL="0">
              <a:buNone/>
            </a:pPr>
            <a:r>
              <a:rPr/>
              <a:t>(simplified — the real tree has 65 tips)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Frédérich et al. 2026 — the paper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Rapid and repeated evolution of pigmentation patterns in reef fishes.</a:t>
            </a:r>
            <a:r>
              <a:rPr/>
              <a:t> Frédérich, Mittelheiser, Gillet, Hodge, Laudet &amp; Dornburg. </a:t>
            </a:r>
            <a:r>
              <a:rPr i="1"/>
              <a:t>BMC Biology</a:t>
            </a:r>
            <a:r>
              <a:rPr/>
              <a:t> (2026) 24:46. </a:t>
            </a:r>
            <a:r>
              <a:rPr>
                <a:hlinkClick r:id="rId2"/>
              </a:rPr>
              <a:t>https://doi.org/10.1186/s12915-026-02544-4</a:t>
            </a:r>
          </a:p>
          <a:p>
            <a:pPr lvl="0" indent="0" marL="0"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scope</a:t>
            </a:r>
          </a:p>
          <a:p>
            <a:pPr lvl="0"/>
            <a:r>
              <a:rPr b="1"/>
              <a:t>6 reef-fish families</a:t>
            </a:r>
          </a:p>
          <a:p>
            <a:pPr lvl="0"/>
            <a:r>
              <a:rPr b="1"/>
              <a:t>918 species</a:t>
            </a:r>
            <a:r>
              <a:rPr/>
              <a:t> total</a:t>
            </a:r>
          </a:p>
          <a:p>
            <a:pPr lvl="0"/>
            <a:r>
              <a:rPr b="1"/>
              <a:t>75%+</a:t>
            </a:r>
            <a:r>
              <a:rPr/>
              <a:t> of extant diversity in every family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coding</a:t>
            </a:r>
          </a:p>
          <a:p>
            <a:pPr lvl="0"/>
            <a:r>
              <a:rPr b="1"/>
              <a:t>30 motifs</a:t>
            </a:r>
            <a:r>
              <a:rPr/>
              <a:t> (stripes, spots, eyespots, marbling, beehive, saddle, …)</a:t>
            </a:r>
          </a:p>
          <a:p>
            <a:pPr lvl="0"/>
            <a:r>
              <a:rPr/>
              <a:t>× </a:t>
            </a:r>
            <a:r>
              <a:rPr b="1"/>
              <a:t>3 body regions</a:t>
            </a:r>
            <a:r>
              <a:rPr/>
              <a:t> (head, trunk, tail)</a:t>
            </a:r>
          </a:p>
          <a:p>
            <a:pPr lvl="0"/>
            <a:r>
              <a:rPr/>
              <a:t>= a per-species binary fingerprint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the </a:t>
            </a:r>
            <a:r>
              <a:rPr b="1"/>
              <a:t>Acanthuridae</a:t>
            </a:r>
            <a:r>
              <a:rPr/>
              <a:t> sub-dataset → 83 species × 57 columns (the 30 motifs expand to 57 binary columns with “1 vs 2+” splits, eye-overlap variants, and 5 whole-body indices).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they coded color — body regions × motifs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        </a:t>
            </a:r>
          </a:p>
          <a:p>
            <a:pPr lvl="0" indent="0" marL="0">
              <a:buNone/>
            </a:pPr>
            <a:r>
              <a:rPr/>
              <a:t>      </a:t>
            </a:r>
          </a:p>
          <a:p>
            <a:pPr lvl="0" indent="0" marL="0">
              <a:buNone/>
            </a:pPr>
            <a:r>
              <a:rPr/>
              <a:t>HEAD 22 chars TRUNK 14 chars TAIL 17 chars</a:t>
            </a:r>
          </a:p>
          <a:p>
            <a:pPr lvl="0" indent="0" marL="0">
              <a:buNone/>
            </a:pPr>
            <a:r>
              <a:rPr/>
              <a:t> Every species = a row of 57 binary characters across these three zones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Motif vocabulary</a:t>
            </a:r>
            <a:r>
              <a:rPr/>
              <a:t> </a:t>
            </a:r>
            <a:r>
              <a:rPr i="1"/>
              <a:t>(scored in each region)</a:t>
            </a:r>
          </a:p>
          <a:p>
            <a:pPr lvl="0" indent="0" marL="0">
              <a:buNone/>
            </a:pPr>
            <a:r>
              <a:rPr/>
              <a:t>Each scored as </a:t>
            </a:r>
            <a:r>
              <a:rPr b="1"/>
              <a:t>1 = present, 0 = absent</a:t>
            </a:r>
            <a:r>
              <a:rPr/>
              <a:t>, with extra splits for </a:t>
            </a:r>
            <a:r>
              <a:rPr b="1"/>
              <a:t>1 vs 2+</a:t>
            </a:r>
            <a:r>
              <a:rPr/>
              <a:t> occurrences (e.g., </a:t>
            </a:r>
            <a:r>
              <a:rPr>
                <a:latin typeface="Courier"/>
              </a:rPr>
              <a:t>H_2_h_strips_+</a:t>
            </a:r>
            <a:r>
              <a:rPr/>
              <a:t> means </a:t>
            </a:r>
            <a:r>
              <a:rPr i="1"/>
              <a:t>2 or more</a:t>
            </a:r>
            <a:r>
              <a:rPr/>
              <a:t> horizontal stripes on the head).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species, coded — the intuition</a:t>
            </a:r>
          </a:p>
        </p:txBody>
      </p:sp>
      <p:pic>
        <p:nvPicPr>
          <p:cNvPr descr="images/Zebrasoma_flavesce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40386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Acanthurus_lineatu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39900"/>
            <a:ext cx="4038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pattern complexity</a:t>
            </a:r>
            <a:r>
              <a:rPr/>
              <a:t> score is just </a:t>
            </a:r>
            <a:r>
              <a:rPr>
                <a:latin typeface="Courier"/>
              </a:rPr>
              <a:t>rowSums(motifs)</a:t>
            </a:r>
            <a:r>
              <a:rPr/>
              <a:t> — the headline number you’ll map onto the tree today.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species, all 57 characters — the formal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/>
            <a:r>
              <a:rPr b="1"/>
              <a:t>Each row = a species</a:t>
            </a:r>
            <a:r>
              <a:rPr/>
              <a:t>; each column = one of the 57 binary characters.</a:t>
            </a:r>
          </a:p>
          <a:p>
            <a:pPr lvl="0"/>
            <a:r>
              <a:rPr b="1"/>
              <a:t>Green = motif present (1); red = absent (0).</a:t>
            </a:r>
          </a:p>
          <a:p>
            <a:pPr lvl="0"/>
            <a:r>
              <a:rPr/>
              <a:t>Top bands label the body region: </a:t>
            </a:r>
            <a:r>
              <a:rPr b="1"/>
              <a:t>INDEX</a:t>
            </a:r>
            <a:r>
              <a:rPr/>
              <a:t> · </a:t>
            </a:r>
            <a:r>
              <a:rPr b="1"/>
              <a:t>HEAD</a:t>
            </a:r>
            <a:r>
              <a:rPr/>
              <a:t> · </a:t>
            </a:r>
            <a:r>
              <a:rPr b="1"/>
              <a:t>TRUNK</a:t>
            </a:r>
            <a:r>
              <a:rPr/>
              <a:t> · </a:t>
            </a:r>
            <a:r>
              <a:rPr b="1"/>
              <a:t>TAIL</a:t>
            </a:r>
            <a:r>
              <a:rPr/>
              <a:t>.</a:t>
            </a:r>
          </a:p>
          <a:p>
            <a:pPr lvl="0"/>
            <a:r>
              <a:rPr/>
              <a:t>Range from </a:t>
            </a:r>
            <a:r>
              <a:rPr b="1"/>
              <a:t>6 active motifs</a:t>
            </a:r>
            <a:r>
              <a:rPr/>
              <a:t> (</a:t>
            </a:r>
            <a:r>
              <a:rPr i="1"/>
              <a:t>Zebrasoma rostratum</a:t>
            </a:r>
            <a:r>
              <a:rPr/>
              <a:t>) to </a:t>
            </a:r>
            <a:r>
              <a:rPr b="1"/>
              <a:t>22</a:t>
            </a:r>
            <a:r>
              <a:rPr/>
              <a:t> (</a:t>
            </a:r>
            <a:r>
              <a:rPr i="1"/>
              <a:t>Acanthurus bariene</a:t>
            </a:r>
            <a:r>
              <a:rPr/>
              <a:t>) across the family.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Pattern complexity varies across the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Distribution of motif counts across 83 Acanthuridae species. </a:t>
            </a:r>
            <a:r>
              <a:rPr b="1"/>
              <a:t>Median = 12. Min = 6 (Zebrasoma rostratum). Max = 22 (Acanthurus bariene).</a:t>
            </a:r>
          </a:p>
          <a:p>
            <a:pPr lvl="0" indent="0" marL="0">
              <a:buNone/>
            </a:pPr>
            <a:r>
              <a:rPr/>
              <a:t>This </a:t>
            </a:r>
            <a:r>
              <a:rPr b="1"/>
              <a:t>single number per species</a:t>
            </a:r>
            <a:r>
              <a:rPr/>
              <a:t> is what you’ll run through </a:t>
            </a:r>
            <a:r>
              <a:rPr>
                <a:latin typeface="Courier"/>
              </a:rPr>
              <a:t>contMap</a:t>
            </a:r>
            <a:r>
              <a:rPr/>
              <a:t>, Blomberg’s K, and Pagel’s λ in the worksheet.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1 — motif richness tracks species richness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/>
            <a:r>
              <a:rPr b="1"/>
              <a:t>Fig 1 from Frédérich et al. 2026.</a:t>
            </a:r>
            <a:r>
              <a:rPr/>
              <a:t> Each panel = one family × 5 biogeographic regions. </a:t>
            </a:r>
            <a:r>
              <a:rPr i="1"/>
              <a:t>Top row</a:t>
            </a:r>
            <a:r>
              <a:rPr/>
              <a:t> = full dataset, </a:t>
            </a:r>
            <a:r>
              <a:rPr i="1"/>
              <a:t>bottom row</a:t>
            </a:r>
            <a:r>
              <a:rPr/>
              <a:t> = re-sampled to avoid widespread-species inflation.</a:t>
            </a:r>
          </a:p>
          <a:p>
            <a:pPr lvl="0"/>
            <a:r>
              <a:rPr b="1"/>
              <a:t>Every family × every sampling regime: R &gt; 0.96, p &lt; 0.01.</a:t>
            </a:r>
            <a:r>
              <a:rPr/>
              <a:t> More species in a region → more motif diversity.</a:t>
            </a:r>
          </a:p>
          <a:p>
            <a:pPr lvl="0"/>
            <a:r>
              <a:rPr b="1"/>
              <a:t>Implication:</a:t>
            </a:r>
            <a:r>
              <a:rPr/>
              <a:t> speciation events drive pattern divergence — pattern diversity scales linearly with the species pool, not with the latitude/longitude of the reef.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2 — pattern evolution is rapid AND bounded</a:t>
            </a:r>
          </a:p>
        </p:txBody>
      </p:sp>
      <p:pic>
        <p:nvPicPr>
          <p:cNvPr descr="images/frederich/fig2-frederi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74800"/>
            <a:ext cx="40386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Phylogenetic signal is weak in every family</a:t>
            </a:r>
            <a:r>
              <a:rPr/>
              <a:t> (multivariate Blomberg’s K, all p &lt; 0.01):</a:t>
            </a:r>
          </a:p>
          <a:p>
            <a:pPr lvl="0"/>
            <a:r>
              <a:rPr/>
              <a:t>Best-fit evolutionary model: </a:t>
            </a:r>
            <a:r>
              <a:rPr b="1"/>
              <a:t>OU1</a:t>
            </a:r>
            <a:r>
              <a:rPr/>
              <a:t> (single optimum, bounded morphospace) + </a:t>
            </a:r>
            <a:r>
              <a:rPr b="1"/>
              <a:t>AC</a:t>
            </a:r>
            <a:r>
              <a:rPr/>
              <a:t> (accelerating rate).</a:t>
            </a:r>
          </a:p>
          <a:p>
            <a:pPr lvl="0"/>
            <a:r>
              <a:rPr b="1"/>
              <a:t>Phylogenetic half-life ≈ 1.5 Myr</a:t>
            </a:r>
            <a:r>
              <a:rPr/>
              <a:t> vs ~37.5 Myr for other fish morphological traits.</a:t>
            </a:r>
          </a:p>
          <a:p>
            <a:pPr lvl="0" indent="0" marL="0">
              <a:buNone/>
            </a:pPr>
            <a:r>
              <a:rPr b="1"/>
              <a:t>Punchline:</a:t>
            </a:r>
            <a:r>
              <a:rPr/>
              <a:t> patterns evolve fast within a constrained set of motifs → strong convergence + recurring labyrinths, stripes, spots across distantly related lineages.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phylogenetic signal?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tendency for </a:t>
            </a:r>
            <a:r>
              <a:rPr b="1"/>
              <a:t>closely related species to resemble each other</a:t>
            </a:r>
            <a:r>
              <a:rPr/>
              <a:t> more than distantly related species.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signal</a:t>
            </a:r>
          </a:p>
          <a:p>
            <a:pPr lvl="0" indent="0" marL="0">
              <a:buNone/>
            </a:pPr>
            <a:r>
              <a:rPr/>
              <a:t>Relatives look alike → color patterns evolve slowly</a:t>
            </a:r>
          </a:p>
          <a:p>
            <a:pPr lvl="0" indent="0" marL="0">
              <a:buNone/>
            </a:pPr>
            <a:r>
              <a:rPr i="1"/>
              <a:t>Pattern is “conserved” on the tree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Weak/no signal</a:t>
            </a:r>
          </a:p>
          <a:p>
            <a:pPr lvl="0" indent="0" marL="0">
              <a:buNone/>
            </a:pPr>
            <a:r>
              <a:rPr/>
              <a:t>Relatives look different → color changes fast, convergence is common</a:t>
            </a:r>
          </a:p>
          <a:p>
            <a:pPr lvl="0" indent="0" marL="0">
              <a:buNone/>
            </a:pPr>
            <a:r>
              <a:rPr i="1"/>
              <a:t>Pattern evolves independently of relatedness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measure this with two statistics: </a:t>
            </a:r>
            <a:r>
              <a:rPr b="1"/>
              <a:t>Blomberg’s K</a:t>
            </a:r>
            <a:r>
              <a:rPr/>
              <a:t> and </a:t>
            </a:r>
            <a:r>
              <a:rPr b="1"/>
              <a:t>Pagel’s λ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Blomberg’s K — what the number means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527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=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signal — trait is random on the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 &lt; K &lt;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Signal exists, but weaker than expected under Brownian motion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=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Trait matches Brownian motion prediction exactly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&gt;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Relatives are MORE similar than Brownian motion predicts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p-value</a:t>
            </a:r>
            <a:r>
              <a:rPr/>
              <a:t> tells you if the signal is statistically significant:</a:t>
            </a:r>
          </a:p>
          <a:p>
            <a:pPr lvl="0"/>
            <a:r>
              <a:rPr b="1"/>
              <a:t>p &lt; 0.05</a:t>
            </a:r>
            <a:r>
              <a:rPr/>
              <a:t> → yes, there’s real signal</a:t>
            </a:r>
          </a:p>
          <a:p>
            <a:pPr lvl="0"/>
            <a:r>
              <a:rPr b="1"/>
              <a:t>p &gt; 0.05</a:t>
            </a:r>
            <a:r>
              <a:rPr/>
              <a:t> → can’t distinguish from random</a:t>
            </a:r>
          </a:p>
          <a:p>
            <a:pPr lvl="0" indent="0" marL="0">
              <a:buNone/>
            </a:pPr>
            <a:r>
              <a:rPr b="1"/>
              <a:t>K = 0.16 with p = 0.04</a:t>
            </a:r>
            <a:r>
              <a:rPr/>
              <a:t> → “there IS signal, but it’s modest — color patterns show some phylogenetic conservatism but also a lot of independent change”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contMap — painting traits on the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contMap</a:t>
            </a:r>
            <a:r>
              <a:rPr/>
              <a:t> reconstructs ancestral trait values and paints them along every branch.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Cool colors (blue) = </a:t>
            </a:r>
            <a:r>
              <a:rPr b="1"/>
              <a:t>simple</a:t>
            </a:r>
            <a:r>
              <a:rPr/>
              <a:t> patterns</a:t>
            </a:r>
          </a:p>
          <a:p>
            <a:pPr lvl="0"/>
            <a:r>
              <a:rPr/>
              <a:t>Warm colors (red) = </a:t>
            </a:r>
            <a:r>
              <a:rPr b="1"/>
              <a:t>complex</a:t>
            </a:r>
            <a:r>
              <a:rPr/>
              <a:t> patterns</a:t>
            </a:r>
          </a:p>
          <a:p>
            <a:pPr lvl="0"/>
            <a:r>
              <a:rPr/>
              <a:t>You can SEE where on the tree complexity changed</a:t>
            </a:r>
          </a:p>
          <a:p>
            <a:pPr lvl="0"/>
            <a:r>
              <a:rPr/>
              <a:t>Look for </a:t>
            </a:r>
            <a:r>
              <a:rPr b="1"/>
              <a:t>abrupt shifts</a:t>
            </a:r>
            <a:r>
              <a:rPr/>
              <a:t> — those are evolutionary events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You’ll generate one of these in Section 5 of the worksheet.</a:t>
            </a:r>
          </a:p>
          <a:p>
            <a:pPr lvl="0" indent="0" marL="0">
              <a:buNone/>
            </a:pPr>
            <a:r>
              <a:rPr/>
              <a:t>The most complex species? </a:t>
            </a:r>
            <a:r>
              <a:rPr b="1" i="1"/>
              <a:t>Acanthurus bariene</a:t>
            </a:r>
            <a:r>
              <a:rPr/>
              <a:t> — 19 pattern elements!</a:t>
            </a:r>
          </a:p>
          <a:p>
            <a:pPr lvl="0" indent="0" marL="0">
              <a:buNone/>
            </a:pPr>
            <a:r>
              <a:rPr/>
              <a:t>The simplest? </a:t>
            </a:r>
            <a:r>
              <a:rPr b="1" i="1"/>
              <a:t>Zebrasoma rostratum</a:t>
            </a:r>
            <a:r>
              <a:rPr/>
              <a:t> — only 4 elements.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traits — mapping presence/absence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all traits are continuous. Some are </a:t>
            </a:r>
            <a:r>
              <a:rPr b="1"/>
              <a:t>binary</a:t>
            </a:r>
            <a:r>
              <a:rPr/>
              <a:t>: the species either has it or doesn’t.</a:t>
            </a:r>
          </a:p>
          <a:p>
            <a:pPr lvl="0" indent="0" marL="0">
              <a:buNone/>
            </a:pPr>
            <a:r>
              <a:rPr b="1"/>
              <a:t>Example: trunk marbling</a:t>
            </a:r>
            <a:r>
              <a:rPr/>
              <a:t> (irregular worm-like markings)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17 of 62 species have trunk marbling</a:t>
            </a:r>
          </a:p>
          <a:p>
            <a:pPr lvl="0"/>
            <a:r>
              <a:rPr/>
              <a:t>Concentrated in </a:t>
            </a:r>
            <a:r>
              <a:rPr i="1"/>
              <a:t>Acanthurus</a:t>
            </a:r>
            <a:r>
              <a:rPr/>
              <a:t> (11/26) and </a:t>
            </a:r>
            <a:r>
              <a:rPr i="1"/>
              <a:t>Ctenochaetus</a:t>
            </a:r>
            <a:r>
              <a:rPr/>
              <a:t> (3/6)</a:t>
            </a:r>
          </a:p>
          <a:p>
            <a:pPr lvl="0"/>
            <a:r>
              <a:rPr/>
              <a:t>Absent in </a:t>
            </a:r>
            <a:r>
              <a:rPr i="1"/>
              <a:t>Zebrasoma</a:t>
            </a:r>
            <a:r>
              <a:rPr/>
              <a:t>, </a:t>
            </a:r>
            <a:r>
              <a:rPr i="1"/>
              <a:t>Prionurus</a:t>
            </a:r>
            <a:r>
              <a:rPr/>
              <a:t>, </a:t>
            </a:r>
            <a:r>
              <a:rPr i="1"/>
              <a:t>Paracanthurus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Discussion question:</a:t>
            </a:r>
          </a:p>
          <a:p>
            <a:pPr lvl="0" indent="0" marL="0">
              <a:buNone/>
            </a:pPr>
            <a:r>
              <a:rPr/>
              <a:t>Is marbling a Turing pattern?</a:t>
            </a:r>
          </a:p>
          <a:p>
            <a:pPr lvl="0" indent="0" marL="0">
              <a:buNone/>
            </a:pPr>
            <a:r>
              <a:rPr/>
              <a:t>Think back to Lecture 12 — reaction-diffusion produces labyrinthine patterns that look a lot like “marbling.”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You’ll color tree tips by marbling presence and ask: how many times did it evolve?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— what you’ll do today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689100"/>
                <a:gridCol w="24257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learn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§1–2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tree + plot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a phylogeny looks in 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color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coded pattern traits look like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Match tree ↔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“golden rule” of comparative methods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complexity 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Summarizing many traits into one number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Painting a trait on the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Blomberg’s K + Pagel’s 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 phylogenetic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 trunk marbling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Discrete traits on a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Pick your own trait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 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~60 minutes of guided work, then 15 minutes on your own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Screenshot</a:t>
            </a:r>
            <a:r>
              <a:rPr/>
              <a:t> of your contMap (pattern complexity on the tree)</a:t>
            </a:r>
          </a:p>
          <a:p>
            <a:pPr lvl="0" indent="-342900" marL="342900">
              <a:buAutoNum type="arabicPeriod"/>
            </a:pPr>
            <a:r>
              <a:rPr b="1"/>
              <a:t>Your K and λ values</a:t>
            </a:r>
            <a:r>
              <a:rPr/>
              <a:t> with a one-sentence interpretation each</a:t>
            </a:r>
          </a:p>
          <a:p>
            <a:pPr lvl="0" indent="-342900" marL="342900">
              <a:buAutoNum type="arabicPeriod"/>
            </a:pPr>
            <a:r>
              <a:rPr b="1"/>
              <a:t>Your chosen trait</a:t>
            </a:r>
            <a:r>
              <a:rPr/>
              <a:t> from “Your Turn” — which trait did you pick? What was K? Was it significant?</a:t>
            </a:r>
          </a:p>
          <a:p>
            <a:pPr lvl="0" indent="-342900" marL="342900">
              <a:buAutoNum type="arabicPeriod"/>
            </a:pPr>
            <a:r>
              <a:rPr b="1"/>
              <a:t>One paragraph</a:t>
            </a:r>
            <a:r>
              <a:rPr/>
              <a:t>: “Is color pattern diversity phylogenetically conserved in surgeonfishes? Why or why not?”</a:t>
            </a:r>
          </a:p>
          <a:p>
            <a:pPr lvl="0" indent="0" marL="0">
              <a:buNone/>
            </a:pPr>
            <a:r>
              <a:rPr/>
              <a:t>There is no single “right answer” — we want a </a:t>
            </a:r>
            <a:r>
              <a:rPr b="1"/>
              <a:t>nuanced</a:t>
            </a:r>
            <a:r>
              <a:rPr/>
              <a:t> interpretation backed by your data.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</a:t>
            </a:r>
            <a:r>
              <a:rPr b="1"/>
              <a:t>RStudio</a:t>
            </a:r>
          </a:p>
          <a:p>
            <a:pPr lvl="0" indent="-342900" marL="342900">
              <a:buAutoNum type="arabicPeriod"/>
            </a:pPr>
            <a:r>
              <a:rPr/>
              <a:t>Set your working directory: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setwd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"path/to/demo-labrid-pcm-week8"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/>
              <a:t>Open the worksheet: </a:t>
            </a:r>
            <a:r>
              <a:rPr>
                <a:latin typeface="Courier"/>
              </a:rPr>
              <a:t>demo7-worksheet.qmd</a:t>
            </a:r>
            <a:r>
              <a:rPr/>
              <a:t> (or the HTML version in your browser)</a:t>
            </a:r>
          </a:p>
          <a:p>
            <a:pPr lvl="0" indent="-342900" marL="342900">
              <a:buAutoNum type="arabicPeriod"/>
            </a:pPr>
            <a:r>
              <a:rPr/>
              <a:t>Work through it </a:t>
            </a:r>
            <a:r>
              <a:rPr b="1"/>
              <a:t>section by section</a:t>
            </a:r>
            <a:r>
              <a:rPr/>
              <a:t> — don’t skip ahead</a:t>
            </a:r>
          </a:p>
          <a:p>
            <a:pPr lvl="0" indent="-342900" marL="342900">
              <a:buAutoNum type="arabicPeriod"/>
            </a:pPr>
            <a:r>
              <a:rPr b="1"/>
              <a:t>Talk to your neighbor.</a:t>
            </a:r>
            <a:r>
              <a:rPr/>
              <a:t> If you’re stuck, ask. If you’re not stuck, explain what you’re seeing.</a:t>
            </a:r>
          </a:p>
          <a:p>
            <a:pPr lvl="0" indent="0" marL="0">
              <a:buNone/>
            </a:pPr>
            <a:r>
              <a:rPr b="1"/>
              <a:t>Let’s go!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7 — Mapping Color Patterns onto a Phylogeny</dc:title>
  <dc:creator>Week 8 Demo Section</dc:creator>
  <cp:keywords/>
  <dcterms:created xsi:type="dcterms:W3CDTF">2026-05-12T18:24:19Z</dcterms:created>
  <dcterms:modified xsi:type="dcterms:W3CDTF">2026-05-12T18:24:19Z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2026-05-20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EEB 187: Ecology and Evolution of Color</vt:lpwstr>
  </property>
  <property fmtid="{D5CDD505-2E9C-101B-9397-08002B2CF9AE}" pid="12" name="toc-title">
    <vt:lpwstr>Table of contents</vt:lpwstr>
  </property>
</Properties>
</file>