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4A853"/>
                </a:solidFill>
                <a:latin typeface="Aptos"/>
              </a:rPr>
              <a:t>Walkthrough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6F6F8"/>
                </a:solidFill>
                <a:latin typeface="Georgia"/>
              </a:rPr>
              <a:t>Color-pattern diversity,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1">
                <a:solidFill>
                  <a:srgbClr val="D4A853"/>
                </a:solidFill>
                <a:latin typeface="Georgia"/>
              </a:rPr>
              <a:t>with and without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4C6D0"/>
                </a:solidFill>
                <a:latin typeface="Aptos"/>
              </a:rPr>
              <a:t>Demo 8 · pavo + phylogeny + measurement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196A8"/>
                </a:solidFill>
                <a:latin typeface="Aptos"/>
              </a:rPr>
              <a:t>EEB 187 · Wednesday May 20, 2026 · led by Rosamari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9196A8"/>
                </a:solidFill>
                <a:latin typeface="Aptos"/>
              </a:rPr>
              <a:t>Companion to the 20-slide intro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The hour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three questions stacked on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4C6D0"/>
                </a:solidFill>
                <a:latin typeface="Aptos"/>
              </a:rPr>
              <a:t>We will ask, for our pavo color-pattern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6F6F8"/>
                </a:solidFill>
                <a:latin typeface="Georgia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871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6F6F8"/>
                </a:solidFill>
                <a:latin typeface="Aptos"/>
              </a:rPr>
              <a:t>Is there structure in the standing diversity?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71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4C6D0"/>
                </a:solidFill>
                <a:latin typeface="Aptos"/>
              </a:rPr>
              <a:t>PCA + bivariate fits  (Part 1, ahistorical)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81B29A"/>
                </a:solidFill>
                <a:latin typeface="Georgia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6301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81B29A"/>
                </a:solidFill>
                <a:latin typeface="Aptos"/>
              </a:rPr>
              <a:t>Is that structure real biology — or just shared ancestry?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4C6D0"/>
                </a:solidFill>
                <a:latin typeface="Aptos"/>
              </a:rPr>
              <a:t>phyloPCA + PGLS + K and λ  (Part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E07A5F"/>
                </a:solidFill>
                <a:latin typeface="Georgia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731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07A5F"/>
                </a:solidFill>
                <a:latin typeface="Aptos"/>
              </a:rPr>
              <a:t>Does the structure survive measurement noise?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257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4C6D0"/>
                </a:solidFill>
                <a:latin typeface="Aptos"/>
              </a:rPr>
              <a:t>5-image error stack → 100-iter Monte Carlo  (Part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Where we left off last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Frédérich et al. 2026 — the headline result we'll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Reef-fish color patterns evolve fast — much faster than Brownian motion predicts.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Their question</a:t>
            </a:r>
            <a:r>
              <a:rPr sz="2000">
                <a:solidFill>
                  <a:srgbClr val="F6F6F8"/>
                </a:solidFill>
                <a:latin typeface="Aptos"/>
              </a:rPr>
              <a:t> — do color patterns track phylogeny in 5 reef-fish families?</a:t>
            </a:r>
          </a:p>
          <a:p>
            <a:pPr algn="l">
              <a:spcAft>
                <a:spcPts val="104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Their method</a:t>
            </a:r>
            <a:r>
              <a:rPr sz="2000">
                <a:solidFill>
                  <a:srgbClr val="F6F6F8"/>
                </a:solidFill>
                <a:latin typeface="Aptos"/>
              </a:rPr>
              <a:t> — 30 binary motif columns per species; one multivariate Blomberg's K.</a:t>
            </a:r>
          </a:p>
          <a:p>
            <a:pPr algn="l">
              <a:spcAft>
                <a:spcPts val="104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Their answer</a:t>
            </a:r>
            <a:r>
              <a:rPr sz="2000">
                <a:solidFill>
                  <a:srgbClr val="F6F6F8"/>
                </a:solidFill>
                <a:latin typeface="Aptos"/>
              </a:rPr>
              <a:t> — weak phylogenetic signal in every family they tested  (K ≈ 0.05–0.22).</a:t>
            </a:r>
          </a:p>
          <a:p>
            <a:pPr algn="l">
              <a:spcAft>
                <a:spcPts val="104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Their interpretation</a:t>
            </a:r>
            <a:r>
              <a:rPr sz="2000">
                <a:solidFill>
                  <a:srgbClr val="F6F6F8"/>
                </a:solidFill>
                <a:latin typeface="Aptos"/>
              </a:rPr>
              <a:t> — convergence is rampant; you can't read color off the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D4A853"/>
                </a:solidFill>
                <a:latin typeface="Aptos"/>
              </a:rPr>
              <a:t>Today we ask the same question with continuous pavo statistics, variable-by-variable, on our own family — and we stress-test it under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Our walkthrough family — Chaetodontidae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19 butterflyfish species · 5 genera · 1 error-species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Same code, same plots that every group will rerun on their own family.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19 species</a:t>
            </a:r>
            <a:r>
              <a:rPr sz="1900">
                <a:solidFill>
                  <a:srgbClr val="F6F6F8"/>
                </a:solidFill>
                <a:latin typeface="Aptos"/>
              </a:rPr>
              <a:t> — across Chaetodon, Heniochus, Roa, Amphichaetodon, Prognathodes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1 image per species</a:t>
            </a:r>
            <a:r>
              <a:rPr sz="1900">
                <a:solidFill>
                  <a:srgbClr val="F6F6F8"/>
                </a:solidFill>
                <a:latin typeface="Aptos"/>
              </a:rPr>
              <a:t> —   exemplar.png — chosen by the picker for lateral, in-focus view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1 error-species</a:t>
            </a:r>
            <a:r>
              <a:rPr sz="1900">
                <a:solidFill>
                  <a:srgbClr val="F6F6F8"/>
                </a:solidFill>
                <a:latin typeface="Aptos"/>
              </a:rPr>
              <a:t> — Heniochus_acuminatus, photographed 5 times — the noise stack for Part 3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6 pavo descriptors</a:t>
            </a:r>
            <a:r>
              <a:rPr sz="1900">
                <a:solidFill>
                  <a:srgbClr val="F6F6F8"/>
                </a:solidFill>
                <a:latin typeface="Aptos"/>
              </a:rPr>
              <a:t> — m, A, Jc, Jt, m_dS, m_dL  (full-rank, no algebraic dependencies)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4 FishBase traits</a:t>
            </a:r>
            <a:r>
              <a:rPr sz="1900">
                <a:solidFill>
                  <a:srgbClr val="F6F6F8"/>
                </a:solidFill>
                <a:latin typeface="Aptos"/>
              </a:rPr>
              <a:t> — Troph, max depth, max length, vulnerability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1 pruned chronogram</a:t>
            </a:r>
            <a:r>
              <a:rPr sz="1900">
                <a:solidFill>
                  <a:srgbClr val="F6F6F8"/>
                </a:solidFill>
                <a:latin typeface="Aptos"/>
              </a:rPr>
              <a:t> — tip labels matched to image directories by the picker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What is a morphospace?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foundational idea behind today's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Every species becomes one point in a space whose axes are trait values.</a:t>
            </a:r>
          </a:p>
        </p:txBody>
      </p:sp>
      <p:pic>
        <p:nvPicPr>
          <p:cNvPr id="6" name="Picture 5" descr="morphospace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77" y="2331720"/>
            <a:ext cx="5280165" cy="41148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7863840" y="24688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>
                <a:solidFill>
                  <a:srgbClr val="F6F6F8"/>
                </a:solidFill>
                <a:latin typeface="Aptos"/>
              </a:rPr>
              <a:t>Axes = traits  (or combinations of traits)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>
                <a:solidFill>
                  <a:srgbClr val="F6F6F8"/>
                </a:solidFill>
                <a:latin typeface="Aptos"/>
              </a:rPr>
              <a:t>Points = species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>
                <a:solidFill>
                  <a:srgbClr val="F6F6F8"/>
                </a:solidFill>
                <a:latin typeface="Aptos"/>
              </a:rPr>
              <a:t>Close = similar pattern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>
                <a:solidFill>
                  <a:srgbClr val="F6F6F8"/>
                </a:solidFill>
                <a:latin typeface="Aptos"/>
              </a:rPr>
              <a:t>Far = different pattern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>
                <a:solidFill>
                  <a:srgbClr val="F6F6F8"/>
                </a:solidFill>
                <a:latin typeface="Aptos"/>
              </a:rPr>
              <a:t>Clusters = groups of species that look alike for the same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The 6 pattern descriptors we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pavo's classify() + adjacent() — six full-rank columns</a:t>
            </a:r>
          </a:p>
        </p:txBody>
      </p:sp>
      <p:pic>
        <p:nvPicPr>
          <p:cNvPr id="5" name="Picture 4" descr="pavo-var-gly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6325"/>
            <a:ext cx="7132320" cy="4702628"/>
          </a:xfrm>
          <a:prstGeom prst="rect">
            <a:avLst/>
          </a:prstGeom>
          <a:effectLst/>
        </p:spPr>
      </p:pic>
      <p:sp>
        <p:nvSpPr>
          <p:cNvPr id="6" name="Rounded Rectangle 5"/>
          <p:cNvSpPr/>
          <p:nvPr/>
        </p:nvSpPr>
        <p:spPr>
          <a:xfrm>
            <a:off x="7818120" y="1554480"/>
            <a:ext cx="4069080" cy="4846320"/>
          </a:xfrm>
          <a:prstGeom prst="roundRect">
            <a:avLst/>
          </a:prstGeom>
          <a:solidFill>
            <a:srgbClr val="1C2032"/>
          </a:solidFill>
          <a:ln w="9525">
            <a:solidFill>
              <a:srgbClr val="919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6916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m       complexity  (0 → 1 = mosaic)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A       directional aspect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          &gt; 1 bar-y · &lt; 1 stripe-y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Jc      palette use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          how much of the palette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          the pattern uses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Jt      transition variety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          color-pair edges realized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m_dS    chromatic boundary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          sharp color contrasts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m_dL    luminance boundary</a:t>
            </a:r>
          </a:p>
          <a:p>
            <a:pPr algn="l">
              <a:spcAft>
                <a:spcPts val="919"/>
              </a:spcAft>
              <a:defRPr sz="1400">
                <a:solidFill>
                  <a:srgbClr val="F6F6F8"/>
                </a:solidFill>
                <a:latin typeface="Aptos"/>
              </a:defRPr>
            </a:pPr>
            <a:r>
              <a:t>          sharp dark-light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Six dimensions → two — why we need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You cannot plot 6 axes on a screen. PCA finds the 2 axes that capture the most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The problem</a:t>
            </a:r>
            <a:r>
              <a:rPr sz="1900">
                <a:solidFill>
                  <a:srgbClr val="F6F6F8"/>
                </a:solidFill>
                <a:latin typeface="Aptos"/>
              </a:rPr>
              <a:t> — with 6 pavo variables, every species is a point in 6-D — invisible.</a:t>
            </a:r>
          </a:p>
          <a:p>
            <a:pPr algn="l">
              <a:spcAft>
                <a:spcPts val="104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Naïve fix</a:t>
            </a:r>
            <a:r>
              <a:rPr sz="1900">
                <a:solidFill>
                  <a:srgbClr val="F6F6F8"/>
                </a:solidFill>
                <a:latin typeface="Aptos"/>
              </a:rPr>
              <a:t> — plot pairs of variables (Demo 6's pairs() plot). 15 sub-plots; brittle.</a:t>
            </a:r>
          </a:p>
          <a:p>
            <a:pPr algn="l">
              <a:spcAft>
                <a:spcPts val="104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PCA</a:t>
            </a:r>
            <a:r>
              <a:rPr sz="1900">
                <a:solidFill>
                  <a:srgbClr val="F6F6F8"/>
                </a:solidFill>
                <a:latin typeface="Aptos"/>
              </a:rPr>
              <a:t> — rotates the 6-D cloud so the first axis captures the most variance, the second captures the most of what's left, and so on.</a:t>
            </a:r>
          </a:p>
          <a:p>
            <a:pPr algn="l">
              <a:spcAft>
                <a:spcPts val="104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Why centre + scale</a:t>
            </a:r>
            <a:r>
              <a:rPr sz="1900">
                <a:solidFill>
                  <a:srgbClr val="F6F6F8"/>
                </a:solidFill>
                <a:latin typeface="Aptos"/>
              </a:rPr>
              <a:t> — our variables are on different units (proportions vs probabilities vs ratios). Without scaling, the variable with the biggest raw spread dominates the axes.</a:t>
            </a:r>
          </a:p>
          <a:p>
            <a:pPr algn="l">
              <a:spcAft>
                <a:spcPts val="104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How many PCs to read</a:t>
            </a:r>
            <a:r>
              <a:rPr sz="1900">
                <a:solidFill>
                  <a:srgbClr val="F6F6F8"/>
                </a:solidFill>
                <a:latin typeface="Aptos"/>
              </a:rPr>
              <a:t> — look at the scree — it tells you when extra PCs stop carrying real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PCA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raw scatter  →  find the axes  →  rotate</a:t>
            </a:r>
          </a:p>
        </p:txBody>
      </p:sp>
      <p:pic>
        <p:nvPicPr>
          <p:cNvPr id="5" name="Picture 4" descr="pca-three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20" y="1691640"/>
            <a:ext cx="10574079" cy="41148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D4A853"/>
                </a:solidFill>
                <a:latin typeface="Aptos"/>
              </a:rPr>
              <a:t>Step 3 is the picture you'll read. PC1 horizontal, PC2 vertical, every species one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Reading the scree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how much variance does each PC actually carry?</a:t>
            </a:r>
          </a:p>
        </p:txBody>
      </p:sp>
      <p:pic>
        <p:nvPicPr>
          <p:cNvPr id="5" name="Picture 4" descr="scre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6858000" cy="4572000"/>
          </a:xfrm>
          <a:prstGeom prst="rect">
            <a:avLst/>
          </a:prstGeom>
          <a:effectLst/>
        </p:spPr>
      </p:pic>
      <p:sp>
        <p:nvSpPr>
          <p:cNvPr id="6" name="Rounded Rectangle 5"/>
          <p:cNvSpPr/>
          <p:nvPr/>
        </p:nvSpPr>
        <p:spPr>
          <a:xfrm>
            <a:off x="7680960" y="1691640"/>
            <a:ext cx="4251960" cy="4572000"/>
          </a:xfrm>
          <a:prstGeom prst="roundRect">
            <a:avLst/>
          </a:prstGeom>
          <a:solidFill>
            <a:srgbClr val="1C2032"/>
          </a:solidFill>
          <a:ln w="9525">
            <a:solidFill>
              <a:srgbClr val="919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874519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PC1 always wins</a:t>
            </a:r>
            <a:r>
              <a:rPr sz="1500">
                <a:solidFill>
                  <a:srgbClr val="F6F6F8"/>
                </a:solidFill>
                <a:latin typeface="Aptos"/>
              </a:rPr>
              <a:t> — the math forces it.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Question:</a:t>
            </a:r>
            <a:r>
              <a:rPr sz="1500">
                <a:solidFill>
                  <a:srgbClr val="F6F6F8"/>
                </a:solidFill>
                <a:latin typeface="Aptos"/>
              </a:rPr>
              <a:t> — by how much does it win?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Elbow</a:t>
            </a:r>
            <a:r>
              <a:rPr sz="1500">
                <a:solidFill>
                  <a:srgbClr val="F6F6F8"/>
                </a:solidFill>
                <a:latin typeface="Aptos"/>
              </a:rPr>
              <a:t> — the bend where PCs stop carrying real signal.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Our data</a:t>
            </a:r>
            <a:r>
              <a:rPr sz="1500">
                <a:solidFill>
                  <a:srgbClr val="F6F6F8"/>
                </a:solidFill>
                <a:latin typeface="Aptos"/>
              </a:rPr>
              <a:t> — PC1 ≈ 42 %, PC2 ≈ 24 % — together about two-thirds of the variance.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Verdict</a:t>
            </a:r>
            <a:r>
              <a:rPr sz="1500">
                <a:solidFill>
                  <a:srgbClr val="F6F6F8"/>
                </a:solidFill>
                <a:latin typeface="Aptos"/>
              </a:rPr>
              <a:t> — two axes is a usable summary.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Reading the biplot — arrows are loadings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points are species; arrows are pavo variables</a:t>
            </a:r>
          </a:p>
        </p:txBody>
      </p:sp>
      <p:pic>
        <p:nvPicPr>
          <p:cNvPr id="5" name="Picture 4" descr="biplot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54" y="1691640"/>
            <a:ext cx="5485331" cy="466344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7680960" y="182880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Long arrow</a:t>
            </a:r>
            <a:r>
              <a:rPr sz="1600">
                <a:solidFill>
                  <a:srgbClr val="F6F6F8"/>
                </a:solidFill>
                <a:latin typeface="Aptos"/>
              </a:rPr>
              <a:t> — high contribution to that axis.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Short arrow</a:t>
            </a:r>
            <a:r>
              <a:rPr sz="1600">
                <a:solidFill>
                  <a:srgbClr val="F6F6F8"/>
                </a:solidFill>
                <a:latin typeface="Aptos"/>
              </a:rPr>
              <a:t> — low contribution.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Arrows same direction</a:t>
            </a:r>
            <a:r>
              <a:rPr sz="1600">
                <a:solidFill>
                  <a:srgbClr val="F6F6F8"/>
                </a:solidFill>
                <a:latin typeface="Aptos"/>
              </a:rPr>
              <a:t> — those variables are correlated.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Arrows opposite</a:t>
            </a:r>
            <a:r>
              <a:rPr sz="1600">
                <a:solidFill>
                  <a:srgbClr val="F6F6F8"/>
                </a:solidFill>
                <a:latin typeface="Aptos"/>
              </a:rPr>
              <a:t> — they trade off.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Arrow perpendicular to an axis</a:t>
            </a:r>
            <a:r>
              <a:rPr sz="1600">
                <a:solidFill>
                  <a:srgbClr val="F6F6F8"/>
                </a:solidFill>
                <a:latin typeface="Aptos"/>
              </a:rPr>
              <a:t> — carries no information on that axis.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The Chaetodontidae biplot — our actual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PC1 ≈ 42.5 %  ·  PC2 ≈ 23.9 %  ·  arrows are pavo variables</a:t>
            </a:r>
          </a:p>
        </p:txBody>
      </p:sp>
      <p:pic>
        <p:nvPicPr>
          <p:cNvPr id="5" name="Picture 4" descr="bi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37" y="1417320"/>
            <a:ext cx="5878285" cy="45720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17220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D4A853"/>
                </a:solidFill>
                <a:latin typeface="Aptos"/>
              </a:rPr>
              <a:t>PC1 driven by m + Jc  (busy patterns).    PC2 driven by A + Jt + boundary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The Chaetodontidae morphospace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every thumbnail is one species; same pavo stats → same neighborhood</a:t>
            </a:r>
          </a:p>
        </p:txBody>
      </p:sp>
      <p:pic>
        <p:nvPicPr>
          <p:cNvPr id="5" name="Picture 4" descr="pc-scat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542" y="1417320"/>
            <a:ext cx="6466114" cy="50292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Does ecology predict pattern?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question §1.8 of the worksheet sets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If we tell you how a fish lives, can we predict what its color pattern looks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Hypothesis</a:t>
            </a:r>
            <a:r>
              <a:rPr sz="2000">
                <a:solidFill>
                  <a:srgbClr val="F6F6F8"/>
                </a:solidFill>
                <a:latin typeface="Aptos"/>
              </a:rPr>
              <a:t> — depth, diet, body size shape the visual world a fish lives in, so its pattern should evolve to match.</a:t>
            </a:r>
          </a:p>
          <a:p>
            <a:pPr algn="l">
              <a:spcAft>
                <a:spcPts val="108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If true</a:t>
            </a:r>
            <a:r>
              <a:rPr sz="2000">
                <a:solidFill>
                  <a:srgbClr val="F6F6F8"/>
                </a:solidFill>
                <a:latin typeface="Aptos"/>
              </a:rPr>
              <a:t> — ecology variables predict pavo PC1 (or specific pavo variables).</a:t>
            </a:r>
          </a:p>
          <a:p>
            <a:pPr algn="l">
              <a:spcAft>
                <a:spcPts val="108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If false</a:t>
            </a:r>
            <a:r>
              <a:rPr sz="2000">
                <a:solidFill>
                  <a:srgbClr val="F6F6F8"/>
                </a:solidFill>
                <a:latin typeface="Aptos"/>
              </a:rPr>
              <a:t> — color and ecology are decoupled — pattern is driven by other things (mate choice, lineage history, sensory drive in non-obvious ways).</a:t>
            </a:r>
          </a:p>
          <a:p>
            <a:pPr algn="l">
              <a:spcAft>
                <a:spcPts val="108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Frédérich 2026 says</a:t>
            </a:r>
            <a:r>
              <a:rPr sz="2000">
                <a:solidFill>
                  <a:srgbClr val="F6F6F8"/>
                </a:solidFill>
                <a:latin typeface="Aptos"/>
              </a:rPr>
              <a:t> — for these families, color evolves fast enough that ecology and color are mostly decoupled. Today we test that on Chaetodontidae.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The two named tests in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ahistorical — we ignore the tree on purpose, just to see what's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4A853"/>
                </a:solidFill>
                <a:latin typeface="Aptos"/>
              </a:rPr>
              <a:t>•  </a:t>
            </a:r>
            <a:r>
              <a:rPr sz="2400" b="1">
                <a:solidFill>
                  <a:srgbClr val="D4A853"/>
                </a:solidFill>
                <a:latin typeface="Aptos"/>
              </a:rPr>
              <a:t>m  ~  Troph</a:t>
            </a:r>
            <a:r>
              <a:rPr sz="2400">
                <a:solidFill>
                  <a:srgbClr val="F6F6F8"/>
                </a:solidFill>
                <a:latin typeface="Aptos"/>
              </a:rPr>
              <a:t> — do herbivores have less busy patterns than piscivores?</a:t>
            </a:r>
          </a:p>
          <a:p>
            <a:pPr algn="l">
              <a:spcAft>
                <a:spcPts val="1200"/>
              </a:spcAft>
            </a:pPr>
            <a:r>
              <a:rPr sz="2400">
                <a:solidFill>
                  <a:srgbClr val="D4A853"/>
                </a:solidFill>
                <a:latin typeface="Aptos"/>
              </a:rPr>
              <a:t>•  </a:t>
            </a:r>
            <a:r>
              <a:rPr sz="2400" b="1">
                <a:solidFill>
                  <a:srgbClr val="D4A853"/>
                </a:solidFill>
                <a:latin typeface="Aptos"/>
              </a:rPr>
              <a:t>A  ~  log_depth</a:t>
            </a:r>
            <a:r>
              <a:rPr sz="2400">
                <a:solidFill>
                  <a:srgbClr val="F6F6F8"/>
                </a:solidFill>
                <a:latin typeface="Aptos"/>
              </a:rPr>
              <a:t> — does pattern orientation change with depth and the light environment?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E07A5F"/>
                </a:solidFill>
                <a:latin typeface="Aptos"/>
              </a:rPr>
              <a:t>These are pretending each species is an independent observation. Part 2 will redo them with phylogenetic correction.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37760"/>
            <a:ext cx="10789920" cy="1371600"/>
          </a:xfrm>
          <a:prstGeom prst="roundRect">
            <a:avLst/>
          </a:prstGeom>
          <a:solidFill>
            <a:srgbClr val="1C2032"/>
          </a:solidFill>
          <a:ln w="9525">
            <a:solidFill>
              <a:srgbClr val="919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500">
                <a:solidFill>
                  <a:srgbClr val="C4C6D0"/>
                </a:solidFill>
                <a:latin typeface="Aptos"/>
              </a:defRPr>
            </a:pPr>
            <a:r>
              <a:t>Workflow:  lm() in R, exactly the same as Demo 6.</a:t>
            </a:r>
          </a:p>
          <a:p>
            <a:pPr algn="l">
              <a:spcAft>
                <a:spcPts val="880"/>
              </a:spcAft>
              <a:defRPr sz="1500">
                <a:solidFill>
                  <a:srgbClr val="C4C6D0"/>
                </a:solidFill>
                <a:latin typeface="Aptos"/>
              </a:defRPr>
            </a:pPr>
            <a:r>
              <a:t>Output:  slope, intercept, p-value, R-squared.</a:t>
            </a:r>
          </a:p>
          <a:p>
            <a:pPr algn="l">
              <a:spcAft>
                <a:spcPts val="880"/>
              </a:spcAft>
              <a:defRPr sz="1500">
                <a:solidFill>
                  <a:srgbClr val="C4C6D0"/>
                </a:solidFill>
                <a:latin typeface="Aptos"/>
              </a:defRPr>
            </a:pPr>
            <a:r>
              <a:t>Read:    is the slope distinguishable from zero?  How much variance does it explain?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Ecology scatter — what we see ahistorically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both slopes weak in 19 butterflyfish species</a:t>
            </a:r>
          </a:p>
        </p:txBody>
      </p:sp>
      <p:pic>
        <p:nvPicPr>
          <p:cNvPr id="5" name="Picture 4" descr="ecology-scatt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39"/>
            <a:ext cx="8229600" cy="41148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823960" y="1828800"/>
            <a:ext cx="3154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Trophic level → m</a:t>
            </a:r>
            <a:r>
              <a:rPr sz="1500">
                <a:solidFill>
                  <a:srgbClr val="F6F6F8"/>
                </a:solidFill>
                <a:latin typeface="Aptos"/>
              </a:rPr>
              <a:t> — R² &lt; 0.1, p &gt; 0.3.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Depth → A</a:t>
            </a:r>
            <a:r>
              <a:rPr sz="1500">
                <a:solidFill>
                  <a:srgbClr val="F6F6F8"/>
                </a:solidFill>
                <a:latin typeface="Aptos"/>
              </a:rPr>
              <a:t> — also weak.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Caveat</a:t>
            </a:r>
            <a:r>
              <a:rPr sz="1500">
                <a:solidFill>
                  <a:srgbClr val="F6F6F8"/>
                </a:solidFill>
                <a:latin typeface="Aptos"/>
              </a:rPr>
              <a:t> — small sample. Bigger trees may show more.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Bigger caveat</a:t>
            </a:r>
            <a:r>
              <a:rPr sz="1500">
                <a:solidFill>
                  <a:srgbClr val="F6F6F8"/>
                </a:solidFill>
                <a:latin typeface="Aptos"/>
              </a:rPr>
              <a:t> — these tests don't know about phylogeny.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Concept block 3</a:t>
            </a:r>
            <a:r>
              <a:rPr sz="1500">
                <a:solidFill>
                  <a:srgbClr val="F6F6F8"/>
                </a:solidFill>
                <a:latin typeface="Aptos"/>
              </a:rPr>
              <a:t> — fixes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Why phylogeny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shared ancestry breaks the independence assumption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Closely related species share trait values because they share genes — not necessarily because of ecology.</a:t>
            </a:r>
          </a:p>
        </p:txBody>
      </p:sp>
      <p:pic>
        <p:nvPicPr>
          <p:cNvPr id="6" name="Picture 5" descr="four-tip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80" y="2377440"/>
            <a:ext cx="5892198" cy="41148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7955279" y="246888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Naïve view</a:t>
            </a:r>
            <a:r>
              <a:rPr sz="1400">
                <a:solidFill>
                  <a:srgbClr val="F6F6F8"/>
                </a:solidFill>
                <a:latin typeface="Aptos"/>
              </a:rPr>
              <a:t> — 4 tips = 4 independent samples.</a:t>
            </a:r>
          </a:p>
          <a:p>
            <a:pPr algn="l">
              <a:spcAft>
                <a:spcPts val="96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Reality</a:t>
            </a:r>
            <a:r>
              <a:rPr sz="1400">
                <a:solidFill>
                  <a:srgbClr val="F6F6F8"/>
                </a:solidFill>
                <a:latin typeface="Aptos"/>
              </a:rPr>
              <a:t> — 2 sister pairs sharing ancestors.</a:t>
            </a:r>
          </a:p>
          <a:p>
            <a:pPr algn="l">
              <a:spcAft>
                <a:spcPts val="96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Consequence</a:t>
            </a:r>
            <a:r>
              <a:rPr sz="1400">
                <a:solidFill>
                  <a:srgbClr val="F6F6F8"/>
                </a:solidFill>
                <a:latin typeface="Aptos"/>
              </a:rPr>
              <a:t> — the apparent correlation between blue and gold traits is partly inherited, not earned.</a:t>
            </a:r>
          </a:p>
          <a:p>
            <a:pPr algn="l">
              <a:spcAft>
                <a:spcPts val="96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Fix</a:t>
            </a:r>
            <a:r>
              <a:rPr sz="1400">
                <a:solidFill>
                  <a:srgbClr val="F6F6F8"/>
                </a:solidFill>
                <a:latin typeface="Aptos"/>
              </a:rPr>
              <a:t> — downweight the sisters when fitting.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Two corrections we will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one for multivariate axes, one for bivariate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D4A853"/>
                </a:solidFill>
                <a:latin typeface="Aptos"/>
              </a:rPr>
              <a:t>•  </a:t>
            </a:r>
            <a:r>
              <a:rPr sz="2200" b="1">
                <a:solidFill>
                  <a:srgbClr val="D4A853"/>
                </a:solidFill>
                <a:latin typeface="Aptos"/>
              </a:rPr>
              <a:t>phyloPCA</a:t>
            </a:r>
            <a:r>
              <a:rPr sz="2200">
                <a:solidFill>
                  <a:srgbClr val="F6F6F8"/>
                </a:solidFill>
                <a:latin typeface="Aptos"/>
              </a:rPr>
              <a:t> — PCA that uses the tree's variance-covariance matrix to weight species.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D4A853"/>
                </a:solidFill>
                <a:latin typeface="Aptos"/>
              </a:rPr>
              <a:t>•  </a:t>
            </a:r>
            <a:r>
              <a:rPr sz="2200" b="1">
                <a:solidFill>
                  <a:srgbClr val="D4A853"/>
                </a:solidFill>
                <a:latin typeface="Aptos"/>
              </a:rPr>
              <a:t>PGLS</a:t>
            </a:r>
            <a:r>
              <a:rPr sz="2200">
                <a:solidFill>
                  <a:srgbClr val="F6F6F8"/>
                </a:solidFill>
                <a:latin typeface="Aptos"/>
              </a:rPr>
              <a:t> — generalized least squares where residuals can correlate via the tree — the bivariate-lm analog of phyloPCA.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D4A853"/>
                </a:solidFill>
                <a:latin typeface="Aptos"/>
              </a:rPr>
              <a:t>•  </a:t>
            </a:r>
            <a:r>
              <a:rPr sz="2200" b="1">
                <a:solidFill>
                  <a:srgbClr val="D4A853"/>
                </a:solidFill>
                <a:latin typeface="Aptos"/>
              </a:rPr>
              <a:t>Plus</a:t>
            </a:r>
            <a:r>
              <a:rPr sz="2200">
                <a:solidFill>
                  <a:srgbClr val="F6F6F8"/>
                </a:solidFill>
                <a:latin typeface="Aptos"/>
              </a:rPr>
              <a:t> — Blomberg's K and Pagel's λ on every pavo variable, to ask which traits carry phylogenetic signal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10789920" cy="1280160"/>
          </a:xfrm>
          <a:prstGeom prst="roundRect">
            <a:avLst/>
          </a:prstGeom>
          <a:solidFill>
            <a:srgbClr val="1C2032"/>
          </a:solidFill>
          <a:ln w="9525">
            <a:solidFill>
              <a:srgbClr val="919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349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500">
                <a:solidFill>
                  <a:srgbClr val="C4C6D0"/>
                </a:solidFill>
                <a:latin typeface="Aptos"/>
              </a:defRPr>
            </a:pPr>
            <a:r>
              <a:t>All three use the same math machinery: invert the tree's variance-covariance matrix and downweight non-independent species.</a:t>
            </a:r>
          </a:p>
          <a:p>
            <a:pPr algn="l">
              <a:spcAft>
                <a:spcPts val="960"/>
              </a:spcAft>
              <a:defRPr sz="1500">
                <a:solidFill>
                  <a:srgbClr val="C4C6D0"/>
                </a:solidFill>
                <a:latin typeface="Aptos"/>
              </a:defRPr>
            </a:pPr>
            <a:r>
              <a:t>If the tree is a flat star  (no internal structure)  every correction reduces to the ahistorical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phyloPCA — what it does that regular PCA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same axes, different centering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Regular PCA centers on the empirical mean.  phyloPCA centers on the BM-expected ancestral state.</a:t>
            </a:r>
          </a:p>
        </p:txBody>
      </p:sp>
      <p:pic>
        <p:nvPicPr>
          <p:cNvPr id="6" name="Picture 5" descr="phylopca-cen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636" y="2331720"/>
            <a:ext cx="7232246" cy="338328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D4A853"/>
                </a:solidFill>
                <a:latin typeface="Aptos"/>
              </a:rPr>
              <a:t>13 bar-y Chaetodon = 13 votes for 'bar-y is one direction' under regular PCA.  Under phyloPCA, 1 vote (the ancestor).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phyloPCA — unpacked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consequence for loadings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</a:pPr>
            <a:r>
              <a:rPr sz="1800">
                <a:solidFill>
                  <a:srgbClr val="D4A853"/>
                </a:solidFill>
                <a:latin typeface="Aptos"/>
              </a:rPr>
              <a:t>•  </a:t>
            </a:r>
            <a:r>
              <a:rPr sz="1800" b="1">
                <a:solidFill>
                  <a:srgbClr val="D4A853"/>
                </a:solidFill>
                <a:latin typeface="Aptos"/>
              </a:rPr>
              <a:t>Regular PCA</a:t>
            </a:r>
            <a:r>
              <a:rPr sz="1800">
                <a:solidFill>
                  <a:srgbClr val="F6F6F8"/>
                </a:solidFill>
                <a:latin typeface="Aptos"/>
              </a:rPr>
              <a:t> — rotates the cloud of 19 species treated as 19 independent points.</a:t>
            </a:r>
          </a:p>
          <a:p>
            <a:pPr algn="l">
              <a:spcAft>
                <a:spcPts val="1080"/>
              </a:spcAft>
            </a:pPr>
            <a:r>
              <a:rPr sz="1800">
                <a:solidFill>
                  <a:srgbClr val="D4A853"/>
                </a:solidFill>
                <a:latin typeface="Aptos"/>
              </a:rPr>
              <a:t>•  </a:t>
            </a:r>
            <a:r>
              <a:rPr sz="1800" b="1">
                <a:solidFill>
                  <a:srgbClr val="D4A853"/>
                </a:solidFill>
                <a:latin typeface="Aptos"/>
              </a:rPr>
              <a:t>phyloPCA</a:t>
            </a:r>
            <a:r>
              <a:rPr sz="1800">
                <a:solidFill>
                  <a:srgbClr val="F6F6F8"/>
                </a:solidFill>
                <a:latin typeface="Aptos"/>
              </a:rPr>
              <a:t> — rotates the cloud of independent evolutionary changes — sister species get pulled toward each other in the variance-covariance step.</a:t>
            </a:r>
          </a:p>
          <a:p>
            <a:pPr algn="l">
              <a:spcAft>
                <a:spcPts val="1080"/>
              </a:spcAft>
            </a:pPr>
            <a:r>
              <a:rPr sz="1800">
                <a:solidFill>
                  <a:srgbClr val="D4A853"/>
                </a:solidFill>
                <a:latin typeface="Aptos"/>
              </a:rPr>
              <a:t>•  </a:t>
            </a:r>
            <a:r>
              <a:rPr sz="1800" b="1">
                <a:solidFill>
                  <a:srgbClr val="D4A853"/>
                </a:solidFill>
                <a:latin typeface="Aptos"/>
              </a:rPr>
              <a:t>So the new axes</a:t>
            </a:r>
            <a:r>
              <a:rPr sz="1800">
                <a:solidFill>
                  <a:srgbClr val="F6F6F8"/>
                </a:solidFill>
                <a:latin typeface="Aptos"/>
              </a:rPr>
              <a:t> — describe directions of evolutionary change in pattern space, not just directions of current correlation.</a:t>
            </a:r>
          </a:p>
          <a:p>
            <a:pPr algn="l">
              <a:spcAft>
                <a:spcPts val="1080"/>
              </a:spcAft>
            </a:pPr>
            <a:r>
              <a:rPr sz="1800">
                <a:solidFill>
                  <a:srgbClr val="D4A853"/>
                </a:solidFill>
                <a:latin typeface="Aptos"/>
              </a:rPr>
              <a:t>•  </a:t>
            </a:r>
            <a:r>
              <a:rPr sz="1800" b="1">
                <a:solidFill>
                  <a:srgbClr val="D4A853"/>
                </a:solidFill>
                <a:latin typeface="Aptos"/>
              </a:rPr>
              <a:t>Loadings differ from regular PCA</a:t>
            </a:r>
            <a:r>
              <a:rPr sz="1800">
                <a:solidFill>
                  <a:srgbClr val="F6F6F8"/>
                </a:solidFill>
                <a:latin typeface="Aptos"/>
              </a:rPr>
              <a:t> — when a variable's apparent strength came from a clade of similar species. phyloPCA strips out that inflation.</a:t>
            </a:r>
          </a:p>
          <a:p>
            <a:pPr algn="l">
              <a:spcAft>
                <a:spcPts val="1080"/>
              </a:spcAft>
            </a:pPr>
            <a:r>
              <a:rPr sz="1800">
                <a:solidFill>
                  <a:srgbClr val="D4A853"/>
                </a:solidFill>
                <a:latin typeface="Aptos"/>
              </a:rPr>
              <a:t>•  </a:t>
            </a:r>
            <a:r>
              <a:rPr sz="1800" b="1">
                <a:solidFill>
                  <a:srgbClr val="D4A853"/>
                </a:solidFill>
                <a:latin typeface="Aptos"/>
              </a:rPr>
              <a:t>Same math as PGLS</a:t>
            </a:r>
            <a:r>
              <a:rPr sz="1800">
                <a:solidFill>
                  <a:srgbClr val="F6F6F8"/>
                </a:solidFill>
                <a:latin typeface="Aptos"/>
              </a:rPr>
              <a:t> — both invert the tree's variance-covariance matrix.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phyloPCA biplot for Chaetodontidae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Chaetodon cluster vs the outer genera</a:t>
            </a:r>
          </a:p>
        </p:txBody>
      </p:sp>
      <p:pic>
        <p:nvPicPr>
          <p:cNvPr id="5" name="Picture 4" descr="phylopca-bi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71600"/>
            <a:ext cx="6583680" cy="512064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915400" y="17373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Cluster near origin</a:t>
            </a:r>
            <a:r>
              <a:rPr sz="1400">
                <a:solidFill>
                  <a:srgbClr val="F6F6F8"/>
                </a:solidFill>
                <a:latin typeface="Aptos"/>
              </a:rPr>
              <a:t> — the dense Chaetodon clade.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Splayed outward</a:t>
            </a:r>
            <a:r>
              <a:rPr sz="1400">
                <a:solidFill>
                  <a:srgbClr val="F6F6F8"/>
                </a:solidFill>
                <a:latin typeface="Aptos"/>
              </a:rPr>
              <a:t> — Roa, Heniochus, Amphichaetodon, Prognathodes.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This shape</a:t>
            </a:r>
            <a:r>
              <a:rPr sz="1400">
                <a:solidFill>
                  <a:srgbClr val="F6F6F8"/>
                </a:solidFill>
                <a:latin typeface="Aptos"/>
              </a:rPr>
              <a:t> — is the multivariate fingerprint of phylogenetic structure in pattern space.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Compare to slide 13</a:t>
            </a:r>
            <a:r>
              <a:rPr sz="1400">
                <a:solidFill>
                  <a:srgbClr val="F6F6F8"/>
                </a:solidFill>
                <a:latin typeface="Aptos"/>
              </a:rPr>
              <a:t> — regular PCA spread Chaetodon out; phyloPCA pulls them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Did phylogeny change which variables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PC1 loading — regular PCA vs phyloPCA</a:t>
            </a:r>
          </a:p>
        </p:txBody>
      </p:sp>
      <p:pic>
        <p:nvPicPr>
          <p:cNvPr id="5" name="Picture 4" descr="compare-loading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417320"/>
            <a:ext cx="5867400" cy="50292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366760" y="178308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On the dashed y = x line</a:t>
            </a:r>
            <a:r>
              <a:rPr sz="1400">
                <a:solidFill>
                  <a:srgbClr val="F6F6F8"/>
                </a:solidFill>
                <a:latin typeface="Aptos"/>
              </a:rPr>
              <a:t> — phylogeny didn't change that variable's loading.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Above the line</a:t>
            </a:r>
            <a:r>
              <a:rPr sz="1400">
                <a:solidFill>
                  <a:srgbClr val="F6F6F8"/>
                </a:solidFill>
                <a:latin typeface="Aptos"/>
              </a:rPr>
              <a:t> — phyloPCA increased the loading — ancestry was masking it.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Below the line</a:t>
            </a:r>
            <a:r>
              <a:rPr sz="1400">
                <a:solidFill>
                  <a:srgbClr val="F6F6F8"/>
                </a:solidFill>
                <a:latin typeface="Aptos"/>
              </a:rPr>
              <a:t> — phyloPCA decreased the loading — ancestry was inflating it.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Read variable-by-variable</a:t>
            </a:r>
            <a:r>
              <a:rPr sz="1400">
                <a:solidFill>
                  <a:srgbClr val="F6F6F8"/>
                </a:solidFill>
                <a:latin typeface="Aptos"/>
              </a:rPr>
              <a:t> — not as a single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PGLS — bivariate fits with phylogenetic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same idea as phyloPCA, but for one X-Y relationship at a time</a:t>
            </a:r>
          </a:p>
        </p:txBody>
      </p:sp>
      <p:pic>
        <p:nvPicPr>
          <p:cNvPr id="5" name="Picture 4" descr="pgls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954" y="1691640"/>
            <a:ext cx="9099611" cy="41148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502920" y="589788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4A853"/>
                </a:solidFill>
                <a:latin typeface="Aptos"/>
              </a:rPr>
              <a:t>Same two fits as §1.6 — A ~ m and m_dL ~ m_dS — but the tree downweights non-independent species.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Blomberg's K — measuring phylogenetic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one number per trait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6F6F8"/>
                </a:solidFill>
                <a:latin typeface="Aptos"/>
              </a:rPr>
              <a:t>K compares how similar relatives actually are to how similar Brownian motion predicts they'd be.</a:t>
            </a:r>
          </a:p>
        </p:txBody>
      </p:sp>
      <p:pic>
        <p:nvPicPr>
          <p:cNvPr id="6" name="Picture 5" descr="blombergs-k-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49" y="2240280"/>
            <a:ext cx="8106660" cy="329184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640080" y="56692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K = 0</a:t>
            </a:r>
            <a:r>
              <a:rPr sz="1400">
                <a:solidFill>
                  <a:srgbClr val="F6F6F8"/>
                </a:solidFill>
                <a:latin typeface="Aptos"/>
              </a:rPr>
              <a:t> — trait randomly distributed on tree — relatives no more similar than distant species.</a:t>
            </a: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K = 1</a:t>
            </a:r>
            <a:r>
              <a:rPr sz="1400">
                <a:solidFill>
                  <a:srgbClr val="F6F6F8"/>
                </a:solidFill>
                <a:latin typeface="Aptos"/>
              </a:rPr>
              <a:t> — trait matches Brownian-motion expectation exactly.</a:t>
            </a:r>
          </a:p>
          <a:p>
            <a:pPr algn="l">
              <a:spcAft>
                <a:spcPts val="84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K &gt; 1</a:t>
            </a:r>
            <a:r>
              <a:rPr sz="1400">
                <a:solidFill>
                  <a:srgbClr val="F6F6F8"/>
                </a:solidFill>
                <a:latin typeface="Aptos"/>
              </a:rPr>
              <a:t> — relatives MORE similar than BM predicts — active conservation.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K per pavo variable in Chaetodontidae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one bar per variable — colored if p &lt; 0.05</a:t>
            </a:r>
          </a:p>
        </p:txBody>
      </p:sp>
      <p:pic>
        <p:nvPicPr>
          <p:cNvPr id="5" name="Picture 4" descr="signal-ba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734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823960" y="17373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A  →  K ≈ 1.3</a:t>
            </a:r>
            <a:r>
              <a:rPr sz="1400">
                <a:solidFill>
                  <a:srgbClr val="F6F6F8"/>
                </a:solidFill>
                <a:latin typeface="Aptos"/>
              </a:rPr>
              <a:t> — p ≈ 0.01.  Relatives MORE similar than BM.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The other 5</a:t>
            </a:r>
            <a:r>
              <a:rPr sz="1400">
                <a:solidFill>
                  <a:srgbClr val="F6F6F8"/>
                </a:solidFill>
                <a:latin typeface="Aptos"/>
              </a:rPr>
              <a:t> — K between 0.15 and 0.45, non-significant — labile.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Take-home</a:t>
            </a:r>
            <a:r>
              <a:rPr sz="1400">
                <a:solidFill>
                  <a:srgbClr val="F6F6F8"/>
                </a:solidFill>
                <a:latin typeface="Aptos"/>
              </a:rPr>
              <a:t> — pattern orientation is conserved in butterflyfishes; complexity, palette, and boundaries are not.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Frédérich landmark</a:t>
            </a:r>
            <a:r>
              <a:rPr sz="1400">
                <a:solidFill>
                  <a:srgbClr val="F6F6F8"/>
                </a:solidFill>
                <a:latin typeface="Aptos"/>
              </a:rPr>
              <a:t> — dashed line at K = 0.10 — not a target our bars should hit.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Where did the ecology data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species_traits.csv you've been using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The CSV in §1.8 was built by querying FishBase directly. Now you'll see the API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FishBase</a:t>
            </a:r>
            <a:r>
              <a:rPr sz="2000">
                <a:solidFill>
                  <a:srgbClr val="F6F6F8"/>
                </a:solidFill>
                <a:latin typeface="Aptos"/>
              </a:rPr>
              <a:t> — free, curated database of fish ecology and morphology. ~35,000 species.</a:t>
            </a:r>
          </a:p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rfishbase</a:t>
            </a:r>
            <a:r>
              <a:rPr sz="2000">
                <a:solidFill>
                  <a:srgbClr val="F6F6F8"/>
                </a:solidFill>
                <a:latin typeface="Aptos"/>
              </a:rPr>
              <a:t> — an R package that talks to it — species() and ecology() are the two key calls.</a:t>
            </a:r>
          </a:p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Why teach this</a:t>
            </a:r>
            <a:r>
              <a:rPr sz="2000">
                <a:solidFill>
                  <a:srgbClr val="F6F6F8"/>
                </a:solidFill>
                <a:latin typeface="Aptos"/>
              </a:rPr>
              <a:t> — any time you want to layer ecology onto a phylogeny, you'll use the same recipe.</a:t>
            </a:r>
          </a:p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Pin to v3.1.10</a:t>
            </a:r>
            <a:r>
              <a:rPr sz="2000">
                <a:solidFill>
                  <a:srgbClr val="F6F6F8"/>
                </a:solidFill>
                <a:latin typeface="Aptos"/>
              </a:rPr>
              <a:t> — newer rfishbase depends on duckdb (C++ toolchain). 3.1.10 installs cleanly.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rfishbase in four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what worksheet §2.8 actually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FishBase uses 'Genus species' (space). Our bundle uses 'Genus_species' (underscore). Translate at the API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1. Convert keys</a:t>
            </a:r>
            <a:r>
              <a:rPr sz="2000">
                <a:solidFill>
                  <a:srgbClr val="F6F6F8"/>
                </a:solidFill>
                <a:latin typeface="Aptos"/>
              </a:rPr>
              <a:t> — species_fb &lt;- gsub("_", " ", species)</a:t>
            </a:r>
          </a:p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2. Pull traits with species()</a:t>
            </a:r>
            <a:r>
              <a:rPr sz="2000">
                <a:solidFill>
                  <a:srgbClr val="F6F6F8"/>
                </a:solidFill>
                <a:latin typeface="Aptos"/>
              </a:rPr>
              <a:t> — Length, DepthRangeDeep, Vulnerability — all in one fields= call.</a:t>
            </a:r>
          </a:p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3. Pull diet with ecology()</a:t>
            </a:r>
            <a:r>
              <a:rPr sz="2000">
                <a:solidFill>
                  <a:srgbClr val="F6F6F8"/>
                </a:solidFill>
                <a:latin typeface="Aptos"/>
              </a:rPr>
              <a:t> — FoodTroph + DietTroph; coalesce to Troph and average across multiple study rows per species.</a:t>
            </a:r>
          </a:p>
          <a:p>
            <a:pPr algn="l">
              <a:spcAft>
                <a:spcPts val="1120"/>
              </a:spcAft>
            </a:pPr>
            <a:r>
              <a:rPr sz="2000">
                <a:solidFill>
                  <a:srgbClr val="D4A853"/>
                </a:solidFill>
                <a:latin typeface="Aptos"/>
              </a:rPr>
              <a:t>•  </a:t>
            </a:r>
            <a:r>
              <a:rPr sz="2000" b="1">
                <a:solidFill>
                  <a:srgbClr val="D4A853"/>
                </a:solidFill>
                <a:latin typeface="Aptos"/>
              </a:rPr>
              <a:t>4. Merge + re-key</a:t>
            </a:r>
            <a:r>
              <a:rPr sz="2000">
                <a:solidFill>
                  <a:srgbClr val="F6F6F8"/>
                </a:solidFill>
                <a:latin typeface="Aptos"/>
              </a:rPr>
              <a:t> — merge sp + ec by Species, then gsub back to underscore form so it joins your bundle's species column.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81B29A"/>
                </a:solidFill>
                <a:latin typeface="Aptos"/>
              </a:rPr>
              <a:t>Total: ~30 sec for a 19-species family. Cached for repeated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Your turn — same recipe, your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§2.8 chunks run unchanged on whichever family you point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rfishbase doesn't know which family you're in. It works on any vector of Genus_species strings.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Same chunks, your data</a:t>
            </a:r>
            <a:r>
              <a:rPr sz="1600">
                <a:solidFill>
                  <a:srgbClr val="F6F6F8"/>
                </a:solidFill>
                <a:latin typeface="Aptos"/>
              </a:rPr>
              <a:t> — re-run §2.8 with your family's species vector — rfishbase fetches data unchanged.</a:t>
            </a:r>
          </a:p>
          <a:p>
            <a:pPr algn="l">
              <a:spcAft>
                <a:spcPts val="104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Watch missing values</a:t>
            </a:r>
            <a:r>
              <a:rPr sz="1600">
                <a:solidFill>
                  <a:srgbClr val="F6F6F8"/>
                </a:solidFill>
                <a:latin typeface="Aptos"/>
              </a:rPr>
              <a:t> — the missing-count line tells you which traits to drop from your PGLS / K calls.</a:t>
            </a:r>
          </a:p>
          <a:p>
            <a:pPr algn="l">
              <a:spcAft>
                <a:spcPts val="104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Inspect failed lookups</a:t>
            </a:r>
            <a:r>
              <a:rPr sz="1600">
                <a:solidFill>
                  <a:srgbClr val="F6F6F8"/>
                </a:solidFill>
                <a:latin typeface="Aptos"/>
              </a:rPr>
              <a:t> — any species with NA on ALL four traits = FishBase didn't recognize the name.</a:t>
            </a:r>
          </a:p>
          <a:p>
            <a:pPr algn="l">
              <a:spcAft>
                <a:spcPts val="104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Validate or look up synonyms</a:t>
            </a:r>
            <a:r>
              <a:rPr sz="1600">
                <a:solidFill>
                  <a:srgbClr val="F6F6F8"/>
                </a:solidFill>
                <a:latin typeface="Aptos"/>
              </a:rPr>
              <a:t> — validate_names() returns the current FishBase name. synonyms() shows whether your tip is a junior synonym of an accepted species.</a:t>
            </a:r>
          </a:p>
          <a:p>
            <a:pPr algn="l">
              <a:spcAft>
                <a:spcPts val="104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Override, don't rename</a:t>
            </a:r>
            <a:r>
              <a:rPr sz="1600">
                <a:solidFill>
                  <a:srgbClr val="F6F6F8"/>
                </a:solidFill>
                <a:latin typeface="Aptos"/>
              </a:rPr>
              <a:t> — don't rename the tree tip — override fb_traits so the FishBase row attaches under your tree's name.</a:t>
            </a:r>
          </a:p>
          <a:p>
            <a:pPr algn="l">
              <a:spcAft>
                <a:spcPts val="104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Network out?</a:t>
            </a:r>
            <a:r>
              <a:rPr sz="1600">
                <a:solidFill>
                  <a:srgbClr val="F6F6F8"/>
                </a:solidFill>
                <a:latin typeface="Aptos"/>
              </a:rPr>
              <a:t> — fall back to the bundled CSV — it ships with every export and contains the same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Taxonomic reconciliation — when rfishbase doesn't recognize your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three causes, three fixes, in order of preference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validate_names() and synonyms() are your two diagnostic tools. Run them on whatever rfishbase returned NA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700">
                <a:solidFill>
                  <a:srgbClr val="D4A853"/>
                </a:solidFill>
                <a:latin typeface="Aptos"/>
              </a:rPr>
              <a:t>•  </a:t>
            </a:r>
            <a:r>
              <a:rPr sz="1700" b="1">
                <a:solidFill>
                  <a:srgbClr val="D4A853"/>
                </a:solidFill>
                <a:latin typeface="Aptos"/>
              </a:rPr>
              <a:t>Cause 1 — junior synonym (most common)</a:t>
            </a:r>
            <a:r>
              <a:rPr sz="1700">
                <a:solidFill>
                  <a:srgbClr val="F6F6F8"/>
                </a:solidFill>
                <a:latin typeface="Aptos"/>
              </a:rPr>
              <a:t> — your tip uses an older name FishBase has reclassified. Fix: override fb_traits with the data from the valid name, keep the tree label.</a:t>
            </a:r>
          </a:p>
          <a:p>
            <a:pPr algn="l">
              <a:spcAft>
                <a:spcPts val="1040"/>
              </a:spcAft>
            </a:pPr>
            <a:r>
              <a:rPr sz="1700">
                <a:solidFill>
                  <a:srgbClr val="D4A853"/>
                </a:solidFill>
                <a:latin typeface="Aptos"/>
              </a:rPr>
              <a:t>•  </a:t>
            </a:r>
            <a:r>
              <a:rPr sz="1700" b="1">
                <a:solidFill>
                  <a:srgbClr val="D4A853"/>
                </a:solidFill>
                <a:latin typeface="Aptos"/>
              </a:rPr>
              <a:t>Cause 2 — spelling typo</a:t>
            </a:r>
            <a:r>
              <a:rPr sz="1700">
                <a:solidFill>
                  <a:srgbClr val="F6F6F8"/>
                </a:solidFill>
                <a:latin typeface="Aptos"/>
              </a:rPr>
              <a:t> — rare but happens. Fix: validate_names() will tell you the closest match. Re-export the bundle or hand-fix the species line.</a:t>
            </a:r>
          </a:p>
          <a:p>
            <a:pPr algn="l">
              <a:spcAft>
                <a:spcPts val="1040"/>
              </a:spcAft>
            </a:pPr>
            <a:r>
              <a:rPr sz="1700">
                <a:solidFill>
                  <a:srgbClr val="D4A853"/>
                </a:solidFill>
                <a:latin typeface="Aptos"/>
              </a:rPr>
              <a:t>•  </a:t>
            </a:r>
            <a:r>
              <a:rPr sz="1700" b="1">
                <a:solidFill>
                  <a:srgbClr val="D4A853"/>
                </a:solidFill>
                <a:latin typeface="Aptos"/>
              </a:rPr>
              <a:t>Cause 3 — not in FishBase</a:t>
            </a:r>
            <a:r>
              <a:rPr sz="1700">
                <a:solidFill>
                  <a:srgbClr val="F6F6F8"/>
                </a:solidFill>
                <a:latin typeface="Aptos"/>
              </a:rPr>
              <a:t> — newly described, deep-water, or aquarium hybrid. Drop the species from the ecology subset (use comparative.data(..., na.omit=TRUE)).</a:t>
            </a:r>
          </a:p>
          <a:p>
            <a:pPr algn="l">
              <a:spcAft>
                <a:spcPts val="1040"/>
              </a:spcAft>
            </a:pPr>
            <a:r>
              <a:rPr sz="1700">
                <a:solidFill>
                  <a:srgbClr val="D4A853"/>
                </a:solidFill>
                <a:latin typeface="Aptos"/>
              </a:rPr>
              <a:t>•  </a:t>
            </a:r>
            <a:r>
              <a:rPr sz="1700" b="1">
                <a:solidFill>
                  <a:srgbClr val="D4A853"/>
                </a:solidFill>
                <a:latin typeface="Aptos"/>
              </a:rPr>
              <a:t>Heads-up by family</a:t>
            </a:r>
            <a:r>
              <a:rPr sz="1700">
                <a:solidFill>
                  <a:srgbClr val="F6F6F8"/>
                </a:solidFill>
                <a:latin typeface="Aptos"/>
              </a:rPr>
              <a:t> — fairy wrasses + parrotfishes + Coris-allies have the most active taxonomy; expect 1-4 mismatches. Acanthuridae + Pomacanthidae are usually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Color signal vs ecology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do close relatives share how they live more than how they look?</a:t>
            </a:r>
          </a:p>
        </p:txBody>
      </p:sp>
      <p:pic>
        <p:nvPicPr>
          <p:cNvPr id="5" name="Picture 4" descr="signal-color-vs-ecolog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734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823960" y="178308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Ecology bars above color bars</a:t>
            </a:r>
            <a:r>
              <a:rPr sz="1400">
                <a:solidFill>
                  <a:srgbClr val="F6F6F8"/>
                </a:solidFill>
                <a:latin typeface="Aptos"/>
              </a:rPr>
              <a:t> — ecology is more phylogenetically conserved than pattern.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Interpretation</a:t>
            </a:r>
            <a:r>
              <a:rPr sz="1400">
                <a:solidFill>
                  <a:srgbClr val="F6F6F8"/>
                </a:solidFill>
                <a:latin typeface="Aptos"/>
              </a:rPr>
              <a:t> — close relatives are tied by how they live more than how they look.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In our 19-tip sample</a:t>
            </a:r>
            <a:r>
              <a:rPr sz="1400">
                <a:solidFill>
                  <a:srgbClr val="F6F6F8"/>
                </a:solidFill>
                <a:latin typeface="Aptos"/>
              </a:rPr>
              <a:t> — the bars overlap — sample size is the limiting factor.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Your family</a:t>
            </a:r>
            <a:r>
              <a:rPr sz="1400">
                <a:solidFill>
                  <a:srgbClr val="F6F6F8"/>
                </a:solidFill>
                <a:latin typeface="Aptos"/>
              </a:rPr>
              <a:t> — may show the pattern more sharply if it has deeper splits.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Part 2 take-home for Chaetodontidae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result we'll stress-test in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Pattern orientation is conserved within butterflyfishes; everything else is evolutionarily labile.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Conserved</a:t>
            </a:r>
            <a:r>
              <a:rPr sz="1900">
                <a:solidFill>
                  <a:srgbClr val="F6F6F8"/>
                </a:solidFill>
                <a:latin typeface="Aptos"/>
              </a:rPr>
              <a:t> — A (pattern aspect ratio) — bar-y stays bar-y, stripe-y stays stripe-y.</a:t>
            </a:r>
          </a:p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Labile</a:t>
            </a:r>
            <a:r>
              <a:rPr sz="1900">
                <a:solidFill>
                  <a:srgbClr val="F6F6F8"/>
                </a:solidFill>
                <a:latin typeface="Aptos"/>
              </a:rPr>
              <a:t> — m, Jc, Jt, m_dS, m_dL — complexity, palette use, transition variety, and both boundary strengths.</a:t>
            </a:r>
          </a:p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Bivariate story</a:t>
            </a:r>
            <a:r>
              <a:rPr sz="1900">
                <a:solidFill>
                  <a:srgbClr val="F6F6F8"/>
                </a:solidFill>
                <a:latin typeface="Aptos"/>
              </a:rPr>
              <a:t> — after PGLS, m_dL ~ m_dS gains a significant positive slope; A ~ m stays flat.</a:t>
            </a:r>
          </a:p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Matches Frédérich</a:t>
            </a:r>
            <a:r>
              <a:rPr sz="1900">
                <a:solidFill>
                  <a:srgbClr val="F6F6F8"/>
                </a:solidFill>
                <a:latin typeface="Aptos"/>
              </a:rPr>
              <a:t> — qualitatively — color patterns largely evolve fast. The exception is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E07A5F"/>
                </a:solidFill>
                <a:latin typeface="Aptos"/>
              </a:rPr>
              <a:t>Part 3 asks: how much of that survives noisy measurements?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Why a single number is a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every pavo statistic came from one photograph</a:t>
            </a:r>
          </a:p>
        </p:txBody>
      </p:sp>
      <p:pic>
        <p:nvPicPr>
          <p:cNvPr id="5" name="Picture 4" descr="one-photo-l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47" y="1691640"/>
            <a:ext cx="7585624" cy="45720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595360" y="192024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Same fish</a:t>
            </a:r>
            <a:r>
              <a:rPr sz="1500">
                <a:solidFill>
                  <a:srgbClr val="F6F6F8"/>
                </a:solidFill>
                <a:latin typeface="Aptos"/>
              </a:rPr>
              <a:t> — Same species, same individual.</a:t>
            </a:r>
          </a:p>
          <a:p>
            <a:pPr algn="l">
              <a:spcAft>
                <a:spcPts val="104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Different photos</a:t>
            </a:r>
            <a:r>
              <a:rPr sz="1500">
                <a:solidFill>
                  <a:srgbClr val="F6F6F8"/>
                </a:solidFill>
                <a:latin typeface="Aptos"/>
              </a:rPr>
              <a:t> — Different angle, light, framing.</a:t>
            </a:r>
          </a:p>
          <a:p>
            <a:pPr algn="l">
              <a:spcAft>
                <a:spcPts val="104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Different pavo values</a:t>
            </a:r>
            <a:r>
              <a:rPr sz="1500">
                <a:solidFill>
                  <a:srgbClr val="F6F6F8"/>
                </a:solidFill>
                <a:latin typeface="Aptos"/>
              </a:rPr>
              <a:t> — the 'truth' is a distribution.</a:t>
            </a:r>
          </a:p>
          <a:p>
            <a:pPr algn="l">
              <a:spcAft>
                <a:spcPts val="1040"/>
              </a:spcAft>
            </a:pPr>
            <a:r>
              <a:rPr sz="1500">
                <a:solidFill>
                  <a:srgbClr val="D4A853"/>
                </a:solidFill>
                <a:latin typeface="Aptos"/>
              </a:rPr>
              <a:t>•  </a:t>
            </a:r>
            <a:r>
              <a:rPr sz="1500" b="1">
                <a:solidFill>
                  <a:srgbClr val="D4A853"/>
                </a:solidFill>
                <a:latin typeface="Aptos"/>
              </a:rPr>
              <a:t>Part 3</a:t>
            </a:r>
            <a:r>
              <a:rPr sz="1500">
                <a:solidFill>
                  <a:srgbClr val="F6F6F8"/>
                </a:solidFill>
                <a:latin typeface="Aptos"/>
              </a:rPr>
              <a:t> — asks how much that distribution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The 5-image error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one species photographed 5 times → 5 pavo values per variable</a:t>
            </a:r>
          </a:p>
        </p:txBody>
      </p:sp>
      <p:pic>
        <p:nvPicPr>
          <p:cNvPr id="5" name="Picture 4" descr="error-stri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7345"/>
            <a:ext cx="8229600" cy="462915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823960" y="1783080"/>
            <a:ext cx="3154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Dots</a:t>
            </a:r>
            <a:r>
              <a:rPr sz="1400">
                <a:solidFill>
                  <a:srgbClr val="F6F6F8"/>
                </a:solidFill>
                <a:latin typeface="Aptos"/>
              </a:rPr>
              <a:t> — one pavo value per photograph.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Bar</a:t>
            </a:r>
            <a:r>
              <a:rPr sz="1400">
                <a:solidFill>
                  <a:srgbClr val="F6F6F8"/>
                </a:solidFill>
                <a:latin typeface="Aptos"/>
              </a:rPr>
              <a:t> — the 5-photo mean.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Tight clusters</a:t>
            </a:r>
            <a:r>
              <a:rPr sz="1400">
                <a:solidFill>
                  <a:srgbClr val="F6F6F8"/>
                </a:solidFill>
                <a:latin typeface="Aptos"/>
              </a:rPr>
              <a:t> — pavo is reliable for that variable.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Wide spread</a:t>
            </a:r>
            <a:r>
              <a:rPr sz="1400">
                <a:solidFill>
                  <a:srgbClr val="F6F6F8"/>
                </a:solidFill>
                <a:latin typeface="Aptos"/>
              </a:rPr>
              <a:t> — that variable's Part-2 result is fragile.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Simplifying assumption</a:t>
            </a:r>
            <a:r>
              <a:rPr sz="1400">
                <a:solidFill>
                  <a:srgbClr val="F6F6F8"/>
                </a:solidFill>
                <a:latin typeface="Aptos"/>
              </a:rPr>
              <a:t> — treat the SD from this one species as the SD for every species.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Monte Carlo — re-run everything under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100 iterations, each adding fresh Gaussian noise</a:t>
            </a:r>
          </a:p>
        </p:txBody>
      </p:sp>
      <p:pic>
        <p:nvPicPr>
          <p:cNvPr id="5" name="Picture 4" descr="mc-loop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396" y="1737360"/>
            <a:ext cx="6426166" cy="320040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22960" y="50749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Each iteration</a:t>
            </a:r>
            <a:r>
              <a:rPr sz="1600">
                <a:solidFill>
                  <a:srgbClr val="F6F6F8"/>
                </a:solidFill>
                <a:latin typeface="Aptos"/>
              </a:rPr>
              <a:t> — add Gaussian noise with the observed SDs to every tip; refit everything.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Store</a:t>
            </a:r>
            <a:r>
              <a:rPr sz="1600">
                <a:solidFill>
                  <a:srgbClr val="F6F6F8"/>
                </a:solidFill>
                <a:latin typeface="Aptos"/>
              </a:rPr>
              <a:t> — K, λ, PGLS slopes.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After 100 iterations</a:t>
            </a:r>
            <a:r>
              <a:rPr sz="1600">
                <a:solidFill>
                  <a:srgbClr val="F6F6F8"/>
                </a:solidFill>
                <a:latin typeface="Aptos"/>
              </a:rPr>
              <a:t> — you have 100 K values per pavo variable — a distribution, not a point.</a:t>
            </a:r>
          </a:p>
          <a:p>
            <a:pPr algn="l">
              <a:spcAft>
                <a:spcPts val="960"/>
              </a:spcAft>
            </a:pPr>
            <a:r>
              <a:rPr sz="1600">
                <a:solidFill>
                  <a:srgbClr val="D4A853"/>
                </a:solidFill>
                <a:latin typeface="Aptos"/>
              </a:rPr>
              <a:t>•  </a:t>
            </a:r>
            <a:r>
              <a:rPr sz="1600" b="1">
                <a:solidFill>
                  <a:srgbClr val="D4A853"/>
                </a:solidFill>
                <a:latin typeface="Aptos"/>
              </a:rPr>
              <a:t>Time cost</a:t>
            </a:r>
            <a:r>
              <a:rPr sz="1600">
                <a:solidFill>
                  <a:srgbClr val="F6F6F8"/>
                </a:solidFill>
                <a:latin typeface="Aptos"/>
              </a:rPr>
              <a:t> — ~1.5–2 min for n_iter = 100, ~3–5 min for n_iter = 200.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Reading the Monte Carlo boxplot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the gold dot is the observed value from Part 2</a:t>
            </a:r>
          </a:p>
        </p:txBody>
      </p:sp>
      <p:pic>
        <p:nvPicPr>
          <p:cNvPr id="5" name="Picture 4" descr="mc-box-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8350"/>
            <a:ext cx="7772400" cy="4421458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8321040" y="17830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300">
                <a:solidFill>
                  <a:srgbClr val="D4A853"/>
                </a:solidFill>
                <a:latin typeface="Aptos"/>
              </a:rPr>
              <a:t>•  </a:t>
            </a:r>
            <a:r>
              <a:rPr sz="1300" b="1">
                <a:solidFill>
                  <a:srgbClr val="D4A853"/>
                </a:solidFill>
                <a:latin typeface="Aptos"/>
              </a:rPr>
              <a:t>Gold inside the box</a:t>
            </a:r>
            <a:r>
              <a:rPr sz="1300">
                <a:solidFill>
                  <a:srgbClr val="F6F6F8"/>
                </a:solidFill>
                <a:latin typeface="Aptos"/>
              </a:rPr>
              <a:t> — robust — your Part 2 conclusion holds.</a:t>
            </a:r>
          </a:p>
          <a:p>
            <a:pPr algn="l">
              <a:spcAft>
                <a:spcPts val="960"/>
              </a:spcAft>
            </a:pPr>
            <a:r>
              <a:rPr sz="1300">
                <a:solidFill>
                  <a:srgbClr val="D4A853"/>
                </a:solidFill>
                <a:latin typeface="Aptos"/>
              </a:rPr>
              <a:t>•  </a:t>
            </a:r>
            <a:r>
              <a:rPr sz="1300" b="1">
                <a:solidFill>
                  <a:srgbClr val="D4A853"/>
                </a:solidFill>
                <a:latin typeface="Aptos"/>
              </a:rPr>
              <a:t>Box centered at zero</a:t>
            </a:r>
            <a:r>
              <a:rPr sz="1300">
                <a:solidFill>
                  <a:srgbClr val="F6F6F8"/>
                </a:solidFill>
                <a:latin typeface="Aptos"/>
              </a:rPr>
              <a:t> — no signal — fine if that was the claim.</a:t>
            </a:r>
          </a:p>
          <a:p>
            <a:pPr algn="l">
              <a:spcAft>
                <a:spcPts val="960"/>
              </a:spcAft>
            </a:pPr>
            <a:r>
              <a:rPr sz="1300">
                <a:solidFill>
                  <a:srgbClr val="D4A853"/>
                </a:solidFill>
                <a:latin typeface="Aptos"/>
              </a:rPr>
              <a:t>•  </a:t>
            </a:r>
            <a:r>
              <a:rPr sz="1300" b="1">
                <a:solidFill>
                  <a:srgbClr val="D4A853"/>
                </a:solidFill>
                <a:latin typeface="Aptos"/>
              </a:rPr>
              <a:t>Box straddles zero</a:t>
            </a:r>
            <a:r>
              <a:rPr sz="1300">
                <a:solidFill>
                  <a:srgbClr val="F6F6F8"/>
                </a:solidFill>
                <a:latin typeface="Aptos"/>
              </a:rPr>
              <a:t> — fragile — can't distinguish from no signal.</a:t>
            </a:r>
          </a:p>
          <a:p>
            <a:pPr algn="l">
              <a:spcAft>
                <a:spcPts val="960"/>
              </a:spcAft>
            </a:pPr>
            <a:r>
              <a:rPr sz="1300">
                <a:solidFill>
                  <a:srgbClr val="D4A853"/>
                </a:solidFill>
                <a:latin typeface="Aptos"/>
              </a:rPr>
              <a:t>•  </a:t>
            </a:r>
            <a:r>
              <a:rPr sz="1300" b="1">
                <a:solidFill>
                  <a:srgbClr val="D4A853"/>
                </a:solidFill>
                <a:latin typeface="Aptos"/>
              </a:rPr>
              <a:t>Gold outside the box</a:t>
            </a:r>
            <a:r>
              <a:rPr sz="1300">
                <a:solidFill>
                  <a:srgbClr val="F6F6F8"/>
                </a:solidFill>
                <a:latin typeface="Aptos"/>
              </a:rPr>
              <a:t> — you got lucky — a different photo would have given a different K.</a:t>
            </a:r>
          </a:p>
          <a:p>
            <a:pPr algn="l">
              <a:spcAft>
                <a:spcPts val="960"/>
              </a:spcAft>
            </a:pPr>
            <a:r>
              <a:rPr sz="1300">
                <a:solidFill>
                  <a:srgbClr val="D4A853"/>
                </a:solidFill>
                <a:latin typeface="Aptos"/>
              </a:rPr>
              <a:t>•  </a:t>
            </a:r>
            <a:r>
              <a:rPr sz="1300" b="1">
                <a:solidFill>
                  <a:srgbClr val="D4A853"/>
                </a:solidFill>
                <a:latin typeface="Aptos"/>
              </a:rPr>
              <a:t>For PGLS slopes</a:t>
            </a:r>
            <a:r>
              <a:rPr sz="1300">
                <a:solidFill>
                  <a:srgbClr val="F6F6F8"/>
                </a:solidFill>
                <a:latin typeface="Aptos"/>
              </a:rPr>
              <a:t> — the test is whether zero lies inside the 95 %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Chaetodontidae K under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100 Monte Carlo re-fits  ·  gold dot = observed (Part 2)</a:t>
            </a:r>
          </a:p>
        </p:txBody>
      </p:sp>
      <p:pic>
        <p:nvPicPr>
          <p:cNvPr id="5" name="Picture 4" descr="mc-K-pl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" y="1463040"/>
            <a:ext cx="7900416" cy="4937760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9006840" y="18288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A's K stays high</a:t>
            </a:r>
            <a:r>
              <a:rPr sz="1400">
                <a:solidFill>
                  <a:srgbClr val="F6F6F8"/>
                </a:solidFill>
                <a:latin typeface="Aptos"/>
              </a:rPr>
              <a:t> — robust under noise — pattern orientation really is conserved.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Other 5</a:t>
            </a:r>
            <a:r>
              <a:rPr sz="1400">
                <a:solidFill>
                  <a:srgbClr val="F6F6F8"/>
                </a:solidFill>
                <a:latin typeface="Aptos"/>
              </a:rPr>
              <a:t> — boxes hover near zero — consistent with the non-significant point estimates.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D4A853"/>
                </a:solidFill>
                <a:latin typeface="Aptos"/>
              </a:rPr>
              <a:t>•  </a:t>
            </a:r>
            <a:r>
              <a:rPr sz="1400" b="1">
                <a:solidFill>
                  <a:srgbClr val="D4A853"/>
                </a:solidFill>
                <a:latin typeface="Aptos"/>
              </a:rPr>
              <a:t>Verdict</a:t>
            </a:r>
            <a:r>
              <a:rPr sz="1400">
                <a:solidFill>
                  <a:srgbClr val="F6F6F8"/>
                </a:solidFill>
                <a:latin typeface="Aptos"/>
              </a:rPr>
              <a:t> — the headline result from Part 2 survives realistic measurement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Part 3 take-home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what survives in Chaetodontidae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F6F6F8"/>
                </a:solidFill>
                <a:latin typeface="Aptos"/>
              </a:rPr>
              <a:t>Once we admit one photograph isn't the truth, only A's signal still holds. Everything else stays labile.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Robust under noise</a:t>
            </a:r>
            <a:r>
              <a:rPr sz="1900">
                <a:solidFill>
                  <a:srgbClr val="F6F6F8"/>
                </a:solidFill>
                <a:latin typeface="Aptos"/>
              </a:rPr>
              <a:t> — A — high K, tight MC distribution, gold dot inside the box.</a:t>
            </a:r>
          </a:p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Robust at no-signal</a:t>
            </a:r>
            <a:r>
              <a:rPr sz="1900">
                <a:solidFill>
                  <a:srgbClr val="F6F6F8"/>
                </a:solidFill>
                <a:latin typeface="Aptos"/>
              </a:rPr>
              <a:t> — m, Jc, Jt, m_dS, m_dL — boxes near zero, gold dot inside.</a:t>
            </a:r>
          </a:p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No PGLS slope flips</a:t>
            </a:r>
            <a:r>
              <a:rPr sz="1900">
                <a:solidFill>
                  <a:srgbClr val="F6F6F8"/>
                </a:solidFill>
                <a:latin typeface="Aptos"/>
              </a:rPr>
              <a:t> — A ~ m stays flat under noise; m_dL ~ m_dS stays positive.</a:t>
            </a:r>
          </a:p>
          <a:p>
            <a:pPr algn="l">
              <a:spcAft>
                <a:spcPts val="1120"/>
              </a:spcAft>
            </a:pPr>
            <a:r>
              <a:rPr sz="1900">
                <a:solidFill>
                  <a:srgbClr val="D4A853"/>
                </a:solidFill>
                <a:latin typeface="Aptos"/>
              </a:rPr>
              <a:t>•  </a:t>
            </a:r>
            <a:r>
              <a:rPr sz="1900" b="1">
                <a:solidFill>
                  <a:srgbClr val="D4A853"/>
                </a:solidFill>
                <a:latin typeface="Aptos"/>
              </a:rPr>
              <a:t>Lesson for your family</a:t>
            </a:r>
            <a:r>
              <a:rPr sz="1900">
                <a:solidFill>
                  <a:srgbClr val="F6F6F8"/>
                </a:solidFill>
                <a:latin typeface="Aptos"/>
              </a:rPr>
              <a:t> — if your headline relies on a variable with wide MC spread, soften the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Now you build your own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15 min on FishView · same login as Demo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Pick ≥ 15 species across ≥ 5 genera from your family</a:t>
            </a:r>
          </a:p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Star one exemplar image per species</a:t>
            </a:r>
          </a:p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Mark ONE species as the error-species → tick 5 images for it</a:t>
            </a:r>
          </a:p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Hit Export. Drop the ZIP next to your Chaetodontidae bundle.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07A5F"/>
                </a:solidFill>
                <a:latin typeface="Aptos"/>
              </a:rPr>
              <a:t>The choices you make here ARE the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15000"/>
            <a:ext cx="10515600" cy="822960"/>
          </a:xfrm>
          <a:prstGeom prst="roundRect">
            <a:avLst/>
          </a:prstGeom>
          <a:solidFill>
            <a:srgbClr val="1C2032"/>
          </a:solidFill>
          <a:ln w="9525">
            <a:solidFill>
              <a:srgbClr val="919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C4C6D0"/>
                </a:solidFill>
                <a:latin typeface="Aptos"/>
              </a:rPr>
              <a:t>Frédérich-paper species are starred for Acanthuridae, Chaetodontidae, Pomacanthidae. The 4 Labrid groups + Balistoidea pick cold — your K estimates are the first for your clade.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What you turn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BruinLearn · end of day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1.  Part 1 PCA scatter — your family</a:t>
            </a:r>
          </a:p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2.  Part 2 K plot + one-line interpretation per pavo variable</a:t>
            </a:r>
          </a:p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3.  Part 3 Monte-Carlo boxplot on K (or one PGLS slope)</a:t>
            </a:r>
          </a:p>
          <a:p>
            <a:pPr algn="l">
              <a:spcAft>
                <a:spcPts val="1200"/>
              </a:spcAft>
              <a:defRPr sz="2200">
                <a:solidFill>
                  <a:srgbClr val="F6F6F8"/>
                </a:solidFill>
                <a:latin typeface="Aptos"/>
              </a:defRPr>
            </a:pPr>
            <a:r>
              <a:t>4.  One paragraph (≤ 250 words) — branch by family: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10607040" cy="1645920"/>
          </a:xfrm>
          <a:prstGeom prst="roundRect">
            <a:avLst/>
          </a:prstGeom>
          <a:solidFill>
            <a:srgbClr val="1C2032"/>
          </a:solidFill>
          <a:ln w="9525">
            <a:solidFill>
              <a:srgbClr val="919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4C6D0"/>
                </a:solidFill>
                <a:latin typeface="Aptos"/>
              </a:defRPr>
            </a:pPr>
            <a:r>
              <a:t>If your family is in Frédérich (Acanthuridae, Pomacanthidae):</a:t>
            </a:r>
          </a:p>
          <a:p>
            <a:pPr algn="l">
              <a:spcAft>
                <a:spcPts val="1000"/>
              </a:spcAft>
              <a:defRPr sz="1400">
                <a:solidFill>
                  <a:srgbClr val="C4C6D0"/>
                </a:solidFill>
                <a:latin typeface="Aptos"/>
              </a:defRPr>
            </a:pPr>
            <a:r>
              <a:t>    compare your per-variable Ks to their published multivariate K.</a:t>
            </a:r>
          </a:p>
          <a:p>
            <a:pPr algn="l">
              <a:spcAft>
                <a:spcPts val="1000"/>
              </a:spcAft>
              <a:defRPr sz="1400">
                <a:solidFill>
                  <a:srgbClr val="C4C6D0"/>
                </a:solidFill>
                <a:latin typeface="Aptos"/>
              </a:defRPr>
            </a:pPr>
            <a:r>
              <a:t>If your family is NOT in Frédérich (4 Labrid groups, Balistoidea):</a:t>
            </a:r>
          </a:p>
          <a:p>
            <a:pPr algn="l">
              <a:spcAft>
                <a:spcPts val="1000"/>
              </a:spcAft>
              <a:defRPr sz="1400">
                <a:solidFill>
                  <a:srgbClr val="C4C6D0"/>
                </a:solidFill>
                <a:latin typeface="Aptos"/>
              </a:defRPr>
            </a:pPr>
            <a:r>
              <a:t>    these are the first reported Ks for your clade — describe the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6F6F8"/>
                </a:solidFill>
                <a:latin typeface="Georgia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4A853"/>
                </a:solidFill>
                <a:latin typeface="Aptos"/>
              </a:rPr>
              <a:t>prep page  ·  ~20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1.  Install R packages (one chunk on the prep page)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2.  Download the Chaetodontidae walkthrough bundle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3.  Run the readiness check until it prints PASS</a:t>
            </a:r>
          </a:p>
          <a:p>
            <a:pPr algn="l">
              <a:spcAft>
                <a:spcPts val="1200"/>
              </a:spcAft>
              <a:defRPr sz="2400">
                <a:solidFill>
                  <a:srgbClr val="F6F6F8"/>
                </a:solidFill>
                <a:latin typeface="Aptos"/>
              </a:defRPr>
            </a:pPr>
            <a:r>
              <a:t>4.  Confirm your Demo 7 FishView login still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4A853"/>
                </a:solidFill>
                <a:latin typeface="Aptos"/>
              </a:rPr>
              <a:t>michaelalfaro.github.io/eeb187-demos/demo8/demo8-prep.html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6F6F8"/>
                </a:solidFill>
                <a:latin typeface="Georgia"/>
              </a:rPr>
              <a:t>See you Wednesday.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D4A853"/>
                </a:solidFill>
                <a:latin typeface="Aptos"/>
              </a:rPr>
              <a:t>Bring questions. We will move slowly.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196A8"/>
                </a:solidFill>
                <a:latin typeface="Aptos"/>
              </a:rPr>
              <a:t>EEB 187 · Demo 8 walkthrough · May 20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