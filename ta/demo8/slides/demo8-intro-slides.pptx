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0">
                <a:solidFill>
                  <a:srgbClr val="F6F6F8"/>
                </a:solidFill>
                <a:latin typeface="Georgia"/>
              </a:rPr>
              <a:t>Color-pattern diversity,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1">
                <a:solidFill>
                  <a:srgbClr val="D4A853"/>
                </a:solidFill>
                <a:latin typeface="Georgia"/>
              </a:rPr>
              <a:t>with and without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4C6D0"/>
                </a:solidFill>
                <a:latin typeface="Aptos"/>
              </a:rPr>
              <a:t>Demo 8 · pavo + phylogeny + measurement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9196A8"/>
                </a:solidFill>
                <a:latin typeface="Aptos"/>
              </a:rPr>
              <a:t>EEB 187 · Wednesday May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Today's question, in three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4C6D0"/>
                </a:solidFill>
                <a:latin typeface="Aptos"/>
              </a:rPr>
              <a:t>Are your family's color-pattern variables…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6F6F8"/>
                </a:solidFill>
                <a:latin typeface="Georgia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4144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F6F6F8"/>
                </a:solidFill>
                <a:latin typeface="Aptos"/>
              </a:rPr>
              <a:t>structured?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81B29A"/>
                </a:solidFill>
                <a:latin typeface="Georgia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2186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81B29A"/>
                </a:solidFill>
                <a:latin typeface="Aptos"/>
              </a:rPr>
              <a:t>structured because of phylogeny?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E07A5F"/>
                </a:solidFill>
                <a:latin typeface="Georgia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995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E07A5F"/>
                </a:solidFill>
                <a:latin typeface="Aptos"/>
              </a:rPr>
              <a:t>structured robust to measurement noise?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9196A8"/>
                </a:solidFill>
                <a:latin typeface="Aptos"/>
              </a:rPr>
              <a:t>Each part builds on the one before.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Last week — Frédérich et al.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the result this demo benchmarks against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0" b="1" i="0">
                <a:solidFill>
                  <a:srgbClr val="D4A853"/>
                </a:solidFill>
                <a:latin typeface="Georgia"/>
              </a:rPr>
              <a:t>K = 0.10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C4C6D0"/>
                </a:solidFill>
                <a:latin typeface="Aptos"/>
              </a:rPr>
              <a:t>Chaetodontidae · multivariate Blomberg's K · 30 binary motifs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2628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80"/>
              </a:spcAft>
              <a:defRPr sz="1800">
                <a:solidFill>
                  <a:srgbClr val="F6F6F8"/>
                </a:solidFill>
                <a:latin typeface="Aptos"/>
              </a:defRPr>
            </a:pPr>
            <a:r>
              <a:t>Color patterns evolve fast.</a:t>
            </a:r>
          </a:p>
          <a:p>
            <a:pPr algn="ctr">
              <a:spcAft>
                <a:spcPts val="880"/>
              </a:spcAft>
              <a:defRPr sz="1800">
                <a:solidFill>
                  <a:srgbClr val="F6F6F8"/>
                </a:solidFill>
                <a:latin typeface="Aptos"/>
              </a:defRPr>
            </a:pPr>
            <a:r>
              <a:t>Convergent across the tree.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E07A5F"/>
                </a:solidFill>
                <a:latin typeface="Aptos"/>
              </a:rPr>
              <a:t>A landmark — not a target. Your per-variable Ks won't hit 0.10.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Today's data (walkthrough)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Chaetodontidae mini-bundle — pre-built, watch-only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19 butterflyfish species, 5 genera, matched to a pruned chronogram</a:t>
            </a:r>
          </a:p>
          <a:p>
            <a:pPr algn="l">
              <a:spcAft>
                <a:spcPts val="112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One error-species, photographed 5 times — the noise stack for Part 3</a:t>
            </a:r>
          </a:p>
          <a:p>
            <a:pPr algn="l">
              <a:spcAft>
                <a:spcPts val="112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9 pavo pattern statistics per species</a:t>
            </a:r>
          </a:p>
          <a:p>
            <a:pPr algn="l">
              <a:spcAft>
                <a:spcPts val="112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4 FishBase traits: trophic level, max depth, max length, vulnerability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D4A853"/>
                </a:solidFill>
                <a:latin typeface="Aptos"/>
              </a:rPr>
              <a:t>After Part 1, every group builds a bundle of this shape for their own family.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Part 1 — describe what you've got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9 pattern stats per species · pavo classify() + adjacent()</a:t>
            </a:r>
          </a:p>
        </p:txBody>
      </p:sp>
      <p:pic>
        <p:nvPicPr>
          <p:cNvPr id="5" name="Picture 4" descr="pair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417320"/>
            <a:ext cx="4937760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778240" y="16916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Diagonal: distribution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Off-diagonal: scatter + smoother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Watch for tight scatter: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m, m_r, m_c all carry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the same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PC1 vs PC2 — where each species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PC1 ≈ 46 % · PC2 ≈ 17 % of pattern variation</a:t>
            </a:r>
          </a:p>
        </p:txBody>
      </p:sp>
      <p:pic>
        <p:nvPicPr>
          <p:cNvPr id="5" name="Picture 4" descr="pc-scatt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417320"/>
            <a:ext cx="6583680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What drives the two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arrows = pavo variables · long arrow = high contribution</a:t>
            </a:r>
          </a:p>
        </p:txBody>
      </p:sp>
      <p:pic>
        <p:nvPicPr>
          <p:cNvPr id="5" name="Picture 4" descr="bipl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417320"/>
            <a:ext cx="6583680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Does pattern track how the fish lives?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two named bivariate tests · ahistorical</a:t>
            </a:r>
          </a:p>
        </p:txBody>
      </p:sp>
      <p:pic>
        <p:nvPicPr>
          <p:cNvPr id="5" name="Picture 4" descr="ecology-scatt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8229600" cy="41148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5256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Trophic level →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complexity (m)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Depth →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asymmetry (A)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Part 2 will redo these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with the tree.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Now you build your bundle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15 min on FishView · same login as Demo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Pick ≥ 15 species across ≥ 5 genera from your family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Star one exemplar image per species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Mark ONE species as the error-species → tick 5 images for it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Hit Export. Drop the ZIP next to your Chaetodontidae bundle.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E07A5F"/>
                </a:solidFill>
                <a:latin typeface="Aptos"/>
              </a:rPr>
              <a:t>The choices you make here ARE the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4C6D0"/>
                </a:solidFill>
                <a:latin typeface="Aptos"/>
              </a:rPr>
              <a:t>Pick the species and the photos you'd defend in a paper.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Part 2 — bring the tree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F6F6F8"/>
                </a:solidFill>
                <a:latin typeface="Aptos"/>
              </a:rPr>
              <a:t>Closely related species share trait values because they share genes.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C4C6D0"/>
                </a:solidFill>
                <a:latin typeface="Aptos"/>
              </a:rPr>
              <a:t>Three corrections,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2400">
                <a:solidFill>
                  <a:srgbClr val="D4A853"/>
                </a:solidFill>
                <a:latin typeface="Aptos"/>
              </a:defRPr>
            </a:pPr>
            <a:r>
              <a:t>phyl.pca   — PCA reweighted by the tree's variance-covariance</a:t>
            </a:r>
          </a:p>
          <a:p>
            <a:pPr algn="l">
              <a:spcAft>
                <a:spcPts val="1120"/>
              </a:spcAft>
              <a:defRPr sz="2400">
                <a:solidFill>
                  <a:srgbClr val="D4A853"/>
                </a:solidFill>
                <a:latin typeface="Aptos"/>
              </a:defRPr>
            </a:pPr>
            <a:r>
              <a:t>PGLS       — bivariate regression where residuals can correlate via the tree</a:t>
            </a:r>
          </a:p>
          <a:p>
            <a:pPr algn="l">
              <a:spcAft>
                <a:spcPts val="1120"/>
              </a:spcAft>
              <a:defRPr sz="2400">
                <a:solidFill>
                  <a:srgbClr val="D4A853"/>
                </a:solidFill>
                <a:latin typeface="Aptos"/>
              </a:defRPr>
            </a:pPr>
            <a:r>
              <a:t>K and λ    — phylogenetic signal, per 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81B29A"/>
                </a:solidFill>
                <a:latin typeface="Aptos"/>
              </a:rPr>
              <a:t>Same questions as Part 1. Different answer if phylogeny was driving things.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phyloPCA — same axes, different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p_4 and m_c dropped because the trait covariance is rank-deficient</a:t>
            </a:r>
          </a:p>
        </p:txBody>
      </p:sp>
      <p:pic>
        <p:nvPicPr>
          <p:cNvPr id="5" name="Picture 4" descr="phylopca-bipl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417320"/>
            <a:ext cx="6583680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Did phylogeny change which variables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PC1 loading: phyloPCA vs ahistorical</a:t>
            </a:r>
          </a:p>
        </p:txBody>
      </p:sp>
      <p:pic>
        <p:nvPicPr>
          <p:cNvPr id="5" name="Picture 4" descr="compare-loading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19" y="1417320"/>
            <a:ext cx="5760720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778240" y="17373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On the dashed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line: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phylogeny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didn't change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that variable's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loading.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Far from it: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shared ancestry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was inflating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Blomberg's K per pavo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K &lt; 1 = relatives more different than Brownian expectation</a:t>
            </a:r>
          </a:p>
        </p:txBody>
      </p:sp>
      <p:pic>
        <p:nvPicPr>
          <p:cNvPr id="5" name="Picture 4" descr="signal-ba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1625"/>
            <a:ext cx="8229600" cy="462915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5256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Blue bars: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p &lt; 0.05 —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real signal.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Dashed line: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Frédérich's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K = 0.10 as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a landmark,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not a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Color signal vs ecology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where the demo lands</a:t>
            </a:r>
          </a:p>
        </p:txBody>
      </p:sp>
      <p:pic>
        <p:nvPicPr>
          <p:cNvPr id="5" name="Picture 4" descr="signal-color-vs-ecology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1625"/>
            <a:ext cx="8229600" cy="462915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52560" y="16916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Dotted line: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K = 1, BM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expectation.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Watch for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ecology bars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above color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bars in your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own family —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Chaetodontidae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is too small to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see it sharply.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Part 3 — admit you got the numbers from a photograph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2600">
                <a:solidFill>
                  <a:srgbClr val="F6F6F8"/>
                </a:solidFill>
                <a:latin typeface="Aptos"/>
              </a:defRPr>
            </a:pPr>
            <a:r>
              <a:t>Pick one species. Photograph it five times.</a:t>
            </a:r>
          </a:p>
          <a:p>
            <a:pPr algn="l">
              <a:spcAft>
                <a:spcPts val="1120"/>
              </a:spcAft>
              <a:defRPr sz="2600">
                <a:solidFill>
                  <a:srgbClr val="F6F6F8"/>
                </a:solidFill>
                <a:latin typeface="Aptos"/>
              </a:defRPr>
            </a:pPr>
            <a:r>
              <a:t>Compute pavo on each photo.</a:t>
            </a:r>
          </a:p>
          <a:p>
            <a:pPr algn="l">
              <a:spcAft>
                <a:spcPts val="1120"/>
              </a:spcAft>
              <a:defRPr sz="2600">
                <a:solidFill>
                  <a:srgbClr val="F6F6F8"/>
                </a:solidFill>
                <a:latin typeface="Aptos"/>
              </a:defRPr>
            </a:pPr>
            <a:r>
              <a:t>The spread is your measurement noise.</a:t>
            </a:r>
          </a:p>
          <a:p>
            <a:pPr algn="l">
              <a:spcAft>
                <a:spcPts val="1120"/>
              </a:spcAft>
              <a:defRPr sz="2600">
                <a:solidFill>
                  <a:srgbClr val="F6F6F8"/>
                </a:solidFill>
                <a:latin typeface="Aptos"/>
              </a:defRPr>
            </a:pPr>
          </a:p>
          <a:p>
            <a:pPr algn="l">
              <a:spcAft>
                <a:spcPts val="1120"/>
              </a:spcAft>
              <a:defRPr sz="2600">
                <a:solidFill>
                  <a:srgbClr val="F6F6F8"/>
                </a:solidFill>
                <a:latin typeface="Aptos"/>
              </a:defRPr>
            </a:pPr>
            <a:r>
              <a:t>Now ask: how much of Part 2 survives noise of that size?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D4A853"/>
                </a:solidFill>
                <a:latin typeface="Aptos"/>
              </a:rPr>
              <a:t>Monte Carlo: re-run Parts 1 &amp; 2 a hundred times under that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Within-species noise — Heniochus_acuminatus × 5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five dots per variable; bar = mean</a:t>
            </a:r>
          </a:p>
        </p:txBody>
      </p:sp>
      <p:pic>
        <p:nvPicPr>
          <p:cNvPr id="5" name="Picture 4" descr="error-strip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1625"/>
            <a:ext cx="8229600" cy="462915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5256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Tight clusters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→ pavo is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  reliable.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Wide spread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→ that variable's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  Part 2 result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  is fragile.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K under noise — 100 Monte Carlo re-fits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gold dot = observed K (Part 2)</a:t>
            </a:r>
          </a:p>
        </p:txBody>
      </p:sp>
      <p:pic>
        <p:nvPicPr>
          <p:cNvPr id="5" name="Picture 4" descr="mc-K-pl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417320"/>
            <a:ext cx="7900416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5256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Gold inside the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box: robust.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Gold outside: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you got lucky —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a different photo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would have given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a different 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What you turn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BruinLearn · end of day Wednesday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1.  Part 1 PCA scatter — your family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2.  Part 2 K plot + one-line interpretation per variable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3.  Part 3 Monte-Carlo CI on one statistic of your choosing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4.  One paragraph (≤ 250 words): does color in your family match Frédérich,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     and which conclusions survive measurement error?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prep page · ~20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1.  Install R packages (one chunk on the prep page)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2.  Download the Chaetodontidae walkthrough bundle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3.  Run the readiness check until it prints PASS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4.  Confirm your Demo 7 FishView login still works — you'll build your bundle in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D4A853"/>
                </a:solidFill>
                <a:latin typeface="Aptos"/>
              </a:rPr>
              <a:t>michaelalfaro.github.io/eeb187-demos/demo8/demo8-prep.html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 i="0">
                <a:solidFill>
                  <a:srgbClr val="F6F6F8"/>
                </a:solidFill>
                <a:latin typeface="Georgia"/>
              </a:rPr>
              <a:t>See you Wednesday.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1">
                <a:solidFill>
                  <a:srgbClr val="D4A853"/>
                </a:solidFill>
                <a:latin typeface="Aptos"/>
              </a:rPr>
              <a:t>Bring your laptop charged. We move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