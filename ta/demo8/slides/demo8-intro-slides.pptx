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6F6F8"/>
                </a:solidFill>
                <a:latin typeface="Georgia"/>
              </a:rPr>
              <a:t>Color-pattern diversity,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1">
                <a:solidFill>
                  <a:srgbClr val="D4A853"/>
                </a:solidFill>
                <a:latin typeface="Georgia"/>
              </a:rPr>
              <a:t>with and without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Demo 8 · pavo + phylogeny + measurement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196A8"/>
                </a:solidFill>
                <a:latin typeface="Aptos"/>
              </a:rPr>
              <a:t>EEB 187 · Wednesday May 20,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question, in three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Are your family's color-pattern variables…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6F6F8"/>
                </a:solidFill>
                <a:latin typeface="Georgia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4144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F6F6F8"/>
                </a:solidFill>
                <a:latin typeface="Aptos"/>
              </a:rPr>
              <a:t>structured?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81B29A"/>
                </a:solidFill>
                <a:latin typeface="Georgia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2186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81B29A"/>
                </a:solidFill>
                <a:latin typeface="Aptos"/>
              </a:rPr>
              <a:t>structured because of phylogeny?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07A5F"/>
                </a:solidFill>
                <a:latin typeface="Georgia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9959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E07A5F"/>
                </a:solidFill>
                <a:latin typeface="Aptos"/>
              </a:rPr>
              <a:t>structured robust to measurement noise?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9196A8"/>
                </a:solidFill>
                <a:latin typeface="Aptos"/>
              </a:rPr>
              <a:t>Each part builds on the one before.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Last week — Frédérich et al.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the result this demo benchmarks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0" b="1" i="0">
                <a:solidFill>
                  <a:srgbClr val="D4A853"/>
                </a:solidFill>
                <a:latin typeface="Georgia"/>
              </a:rPr>
              <a:t>K = 0.10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C4C6D0"/>
                </a:solidFill>
                <a:latin typeface="Aptos"/>
              </a:rPr>
              <a:t>Chaetodontidae · multivariate Blomberg's K · 30 binary pattern motifs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846320"/>
            <a:ext cx="8686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Color patterns evolve fast.</a:t>
            </a:r>
          </a:p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Convergence and reversal across the tree.</a:t>
            </a:r>
          </a:p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Phylogeny barely predicts the next species' pattern.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data (walkthrough)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Chaetodontidae mini-bundle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19 butterflyfish species — 5 genera, all matched to a pruned chronogram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 of those 19 ships 5 images instead of 1 — the "error-species" for Part 3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9 pavo pattern statistics per species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4 ecological traits from FishBase: trophic level, max depth, max length, vulnerability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Each group then re-runs the same workflow on their own family's mini-bundle.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1 — describe what you've got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9 pattern stats per species · pavo classify() + adjacent()</a:t>
            </a:r>
          </a:p>
        </p:txBody>
      </p:sp>
      <p:pic>
        <p:nvPicPr>
          <p:cNvPr id="5" name="Picture 4" descr="pair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417320"/>
            <a:ext cx="493776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69164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Diagonal: distribution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Off-diagonal: scatter + smoother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Watch for tight scatter: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m, m_r, m_c all carry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the same 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PC1 vs PC2 — where each species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≈ 46 % · PC2 ≈ 17 % of pattern variation</a:t>
            </a:r>
          </a:p>
        </p:txBody>
      </p:sp>
      <p:pic>
        <p:nvPicPr>
          <p:cNvPr id="5" name="Picture 4" descr="pc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58368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drives the two axes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arrows = pavo variables · long arrow = high contribution</a:t>
            </a:r>
          </a:p>
        </p:txBody>
      </p:sp>
      <p:pic>
        <p:nvPicPr>
          <p:cNvPr id="5" name="Picture 4" descr="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58368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Does pattern track how the fish lives?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two named bivariate tests · ahistorical</a:t>
            </a:r>
          </a:p>
        </p:txBody>
      </p:sp>
      <p:pic>
        <p:nvPicPr>
          <p:cNvPr id="5" name="Picture 4" descr="ecology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8229600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Trophic level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complexity (m)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Depth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asymmetry (A)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Part 2 will redo these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with the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2 — bring the tree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F6F6F8"/>
                </a:solidFill>
                <a:latin typeface="Aptos"/>
              </a:rPr>
              <a:t>Closely related species share trait values because they share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C4C6D0"/>
                </a:solidFill>
                <a:latin typeface="Aptos"/>
              </a:rPr>
              <a:t>Three corrections, in order: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phyl.pca   — PCA reweighted by the tree's variance-covariance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PGLS       — bivariate regression where residuals can correlate via the tree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K and λ    — phylogenetic signal, per 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81B29A"/>
                </a:solidFill>
                <a:latin typeface="Aptos"/>
              </a:rPr>
              <a:t>Same questions as Part 1. Different answer if phylogeny was driving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phyloPCA — same axes, different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p_4 and m_c dropped because the trait covariance is rank-deficient</a:t>
            </a:r>
          </a:p>
        </p:txBody>
      </p:sp>
      <p:pic>
        <p:nvPicPr>
          <p:cNvPr id="5" name="Picture 4" descr="phylopca-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58368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Did phylogeny change which variables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loading: phyloPCA vs ahistorical</a:t>
            </a:r>
          </a:p>
        </p:txBody>
      </p:sp>
      <p:pic>
        <p:nvPicPr>
          <p:cNvPr id="5" name="Picture 4" descr="compare-loading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1417320"/>
            <a:ext cx="576072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On the dashed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phylogeny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didn't change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loading.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Far from it: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shared ancestry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was inflating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Blomberg's K per pavo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K &lt; 1 = relatives more different than Brownian expectation</a:t>
            </a:r>
          </a:p>
        </p:txBody>
      </p:sp>
      <p:pic>
        <p:nvPicPr>
          <p:cNvPr id="5" name="Picture 4" descr="signal-ba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Blue bars: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 &lt; 0.05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real signal.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Dashed 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Frédérich's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K = 0.10 as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landmark,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not a target.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Color signal vs ecology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where the demo lands</a:t>
            </a:r>
          </a:p>
        </p:txBody>
      </p:sp>
      <p:pic>
        <p:nvPicPr>
          <p:cNvPr id="5" name="Picture 4" descr="signal-color-vs-ecolog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Dotted 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K = 1, the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BM expectation.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Ecology bars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above color bars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= color evolves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faster than the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niche it tracks.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3 — admit you got the numbers from a photograph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Pick one species. Photograph it five times.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Compute pavo on each photo.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The spread is your measurement noise.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Now ask: how much of Part 2 survives noise of that size?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D4A853"/>
                </a:solidFill>
                <a:latin typeface="Aptos"/>
              </a:rPr>
              <a:t>Monte Carlo: re-run Parts 1 &amp; 2 a hundred times under that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Within-species noise — Heniochus_acuminatus × 5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five dots per variable; bar = mean</a:t>
            </a:r>
          </a:p>
        </p:txBody>
      </p:sp>
      <p:pic>
        <p:nvPicPr>
          <p:cNvPr id="5" name="Picture 4" descr="error-stri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Tight clusters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pavo is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reliable.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Wide spread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Part 2 result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is fragile.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K under noise — 100 Monte Carlo re-fits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gold dot = observed K (Part 2)</a:t>
            </a:r>
          </a:p>
        </p:txBody>
      </p:sp>
      <p:pic>
        <p:nvPicPr>
          <p:cNvPr id="5" name="Picture 4" descr="mc-K-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1417320"/>
            <a:ext cx="7900416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inside the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box: robust.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outside: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you got lucky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photo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would have given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you turn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BruinLearn · end of day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Part 1 PCA scatter — your family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Part 2 K plot + one-line interpretation per variable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Part 3 Monte-Carlo CI on one statistic of your choosing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One paragraph (≤ 250 words): does color in your family match Frédérich,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     and which conclusions survive measurement error?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prep page · ~20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Install R packages (one chunk on the prep page)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Download the Chaetodontidae bundle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Run the readiness check until it prints PASS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Confirm your group's mini-bundle login on FishView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michaelalfaro.github.io/eeb187-demos/demo8/demo8-prep.html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 i="0">
                <a:solidFill>
                  <a:srgbClr val="F6F6F8"/>
                </a:solidFill>
                <a:latin typeface="Georgia"/>
              </a:rPr>
              <a:t>See you Wednesday.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D4A853"/>
                </a:solidFill>
                <a:latin typeface="Aptos"/>
              </a:rPr>
              <a:t>Bring your laptop charged. We move fast.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