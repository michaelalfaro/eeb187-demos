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5" Type="http://schemas.openxmlformats.org/officeDocument/2006/relationships/viewProps" Target="viewProps.xml" /><Relationship Id="rId2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7" Type="http://schemas.openxmlformats.org/officeDocument/2006/relationships/tableStyles" Target="tableStyles.xml" /><Relationship Id="rId2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3" Type="http://schemas.openxmlformats.org/officeDocument/2006/relationships/image" Target="../media/image2.png" /><Relationship Id="rId2" Type="http://schemas.openxmlformats.org/officeDocument/2006/relationships/image" Target="../media/image1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Demo 7 — Mapping Color Patterns onto a Phylogeny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EEB 187: Ecology and Evolution of Color</a:t>
            </a:r>
            <a:br/>
            <a:br/>
            <a:r>
              <a:rPr/>
              <a:t>Week 8 Demo Section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2026-05-20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Today’s big 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Do closely related fish species have similar color patterns?</a:t>
            </a:r>
          </a:p>
          <a:p>
            <a:pPr lvl="0" indent="0" marL="0">
              <a:buNone/>
            </a:pPr>
            <a:r>
              <a:rPr/>
              <a:t>Or does natural selection override evolutionary history?</a:t>
            </a:r>
          </a:p>
          <a:p>
            <a:pPr lvl="0" indent="0" marL="0">
              <a:buNone/>
            </a:pPr>
            <a:r>
              <a:rPr/>
              <a:t>We’ll answer this with data, a phylogeny, and two statistical tests.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is a phylogeny?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A </a:t>
            </a:r>
            <a:r>
              <a:rPr b="1"/>
              <a:t>family tree</a:t>
            </a:r>
            <a:r>
              <a:rPr/>
              <a:t> for species</a:t>
            </a:r>
          </a:p>
          <a:p>
            <a:pPr lvl="0"/>
            <a:r>
              <a:rPr/>
              <a:t>Branch lengths = </a:t>
            </a:r>
            <a:r>
              <a:rPr b="1"/>
              <a:t>time</a:t>
            </a:r>
            <a:r>
              <a:rPr/>
              <a:t> (millions of years)</a:t>
            </a:r>
          </a:p>
          <a:p>
            <a:pPr lvl="0"/>
            <a:r>
              <a:rPr/>
              <a:t>Closely related species share a recent </a:t>
            </a:r>
            <a:r>
              <a:rPr b="1"/>
              <a:t>common ancestor</a:t>
            </a:r>
          </a:p>
          <a:p>
            <a:pPr lvl="0"/>
            <a:r>
              <a:rPr/>
              <a:t>The tree is estimated from DNA sequences</a:t>
            </a:r>
          </a:p>
          <a:p>
            <a:pPr lvl="0" indent="0" marL="0">
              <a:buNone/>
            </a:pPr>
            <a:r>
              <a:rPr b="1"/>
              <a:t>Today’s tree:</a:t>
            </a:r>
            <a:r>
              <a:rPr/>
              <a:t> 65 surgeonfish species (</a:t>
            </a:r>
            <a:r>
              <a:rPr i="1"/>
              <a:t>Acanthuridae</a:t>
            </a:r>
            <a:r>
              <a:rPr/>
              <a:t>)</a:t>
            </a:r>
          </a:p>
          <a:p>
            <a:pPr lvl="0" indent="0" marL="0">
              <a:buNone/>
            </a:pPr>
            <a:r>
              <a:rPr/>
              <a:t>Root age: </a:t>
            </a:r>
            <a:r>
              <a:rPr b="1"/>
              <a:t>65 million years</a:t>
            </a:r>
            <a:r>
              <a:rPr/>
              <a:t> — right at the end-Cretaceous extinction!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        ┌── Acanthurus
    ┌───┤
    │   └── Ctenochaetus
────┤
    │   ┌── Zebrasoma
    └───┤
        └── Naso</a:t>
            </a:r>
          </a:p>
          <a:p>
            <a:pPr lvl="0" indent="0" marL="0">
              <a:buNone/>
            </a:pPr>
            <a:r>
              <a:rPr/>
              <a:t>(simplified — the real tree has 65 tips)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Where the data comes from — Frederich et al. 2026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Rapid and repeated evolution of the pigmentation patterns in reef fishes</a:t>
            </a:r>
            <a:r>
              <a:rPr sz="2000"/>
              <a:t> Frederich, Mittelheiser, Gillet, Hodge &amp; Laudet · </a:t>
            </a:r>
            <a:r>
              <a:rPr sz="2000" i="1"/>
              <a:t>BMC Biology</a:t>
            </a:r>
            <a:r>
              <a:rPr sz="2000"/>
              <a:t> 2026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they did</a:t>
            </a:r>
          </a:p>
          <a:p>
            <a:pPr lvl="0"/>
            <a:r>
              <a:rPr/>
              <a:t>Scored </a:t>
            </a:r>
            <a:r>
              <a:rPr b="1"/>
              <a:t>6 reef-fish families</a:t>
            </a:r>
            <a:r>
              <a:rPr/>
              <a:t> (Acanthuridae, Chaetodontidae, Lutjanidae, Mullidae, Pomacanthidae, Pomacentridae)</a:t>
            </a:r>
          </a:p>
          <a:p>
            <a:pPr lvl="0"/>
            <a:r>
              <a:rPr/>
              <a:t>For every species: </a:t>
            </a:r>
            <a:r>
              <a:rPr b="1"/>
              <a:t>57 binary characters</a:t>
            </a:r>
            <a:r>
              <a:rPr/>
              <a:t> describing the pigmentation pattern (1 = present, 0 = absent)</a:t>
            </a:r>
          </a:p>
          <a:p>
            <a:pPr lvl="0"/>
            <a:r>
              <a:rPr/>
              <a:t>Computed Gower distance → PCoA → quantified pattern diversity through time and across regions</a:t>
            </a:r>
          </a:p>
          <a:p>
            <a:pPr lvl="0"/>
            <a:r>
              <a:rPr/>
              <a:t>Asked: how fast and how often do these patterns evolve?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Today: the Acanthuridae sub-dataset</a:t>
            </a:r>
          </a:p>
          <a:p>
            <a:pPr lvl="0"/>
            <a:r>
              <a:rPr b="1"/>
              <a:t>65 surgeonfish species</a:t>
            </a:r>
            <a:r>
              <a:rPr/>
              <a:t> on a time-calibrated tree</a:t>
            </a:r>
          </a:p>
          <a:p>
            <a:pPr lvl="0"/>
            <a:r>
              <a:rPr b="1"/>
              <a:t>59 columns</a:t>
            </a:r>
            <a:r>
              <a:rPr/>
              <a:t> per species (57 motif characters + species name + row index)</a:t>
            </a:r>
          </a:p>
          <a:p>
            <a:pPr lvl="0"/>
            <a:r>
              <a:rPr/>
              <a:t>You’ll test for </a:t>
            </a:r>
            <a:r>
              <a:rPr b="1"/>
              <a:t>phylogenetic signal</a:t>
            </a:r>
            <a:r>
              <a:rPr/>
              <a:t> on each character (and on a composite “pattern complexity” score)</a:t>
            </a:r>
          </a:p>
          <a:p>
            <a:pPr lvl="0" indent="0" marL="0">
              <a:buNone/>
            </a:pPr>
            <a:r>
              <a:rPr i="1"/>
              <a:t>Their punchline: pigmentation patterns evolve rapidly and convergently — same motifs reappear repeatedly across distant lineages.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How they coded color — body regions × motif vocabulary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         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 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 </a:t>
            </a:r>
          </a:p>
          <a:p>
            <a:pPr lvl="0" indent="0" marL="0">
              <a:buNone/>
            </a:pPr>
            <a:r>
              <a:rPr/>
              <a:t>HEAD H_ (22 chars)</a:t>
            </a:r>
          </a:p>
          <a:p>
            <a:pPr lvl="0" indent="0" marL="0">
              <a:buNone/>
            </a:pPr>
            <a:r>
              <a:rPr/>
              <a:t>TRUNK Tr_ (14 chars)</a:t>
            </a:r>
          </a:p>
          <a:p>
            <a:pPr lvl="0" indent="0" marL="0">
              <a:buNone/>
            </a:pPr>
            <a:r>
              <a:rPr/>
              <a:t>TAIL Ta_ (17 chars)</a:t>
            </a:r>
          </a:p>
          <a:p>
            <a:pPr lvl="0" indent="0" marL="0">
              <a:buNone/>
            </a:pPr>
            <a:r>
              <a:rPr/>
              <a:t> Every species is described by 57 binary characters spread across these three zones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Motif vocabulary</a:t>
            </a:r>
            <a:r>
              <a:rPr/>
              <a:t> </a:t>
            </a:r>
            <a:r>
              <a:rPr i="1"/>
              <a:t>(scored in each zone)</a:t>
            </a:r>
          </a:p>
          <a:p>
            <a:pPr lvl="0" indent="0" marL="0">
              <a:buNone/>
            </a:pPr>
            <a:r>
              <a:rPr/>
              <a:t>Coded as </a:t>
            </a:r>
            <a:r>
              <a:rPr b="1"/>
              <a:t>1 = present, 0 = absent</a:t>
            </a:r>
            <a:r>
              <a:rPr/>
              <a:t>, plus “1 vs 2+” splits for stripes/stains/points (e.g., </a:t>
            </a:r>
            <a:r>
              <a:rPr>
                <a:latin typeface="Courier"/>
              </a:rPr>
              <a:t>H_2_h_strips_+</a:t>
            </a:r>
            <a:r>
              <a:rPr/>
              <a:t> means </a:t>
            </a:r>
            <a:r>
              <a:rPr i="1"/>
              <a:t>2 or more</a:t>
            </a:r>
            <a:r>
              <a:rPr/>
              <a:t> horizontal stripes on the head).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How to read a coded species — three worked examples</a:t>
            </a:r>
          </a:p>
        </p:txBody>
      </p:sp>
      <p:pic>
        <p:nvPicPr>
          <p:cNvPr descr="images/Zebrasoma_flavescen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473200"/>
            <a:ext cx="4038600" cy="2819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descr="images/Acanthurus_lineatus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648200" y="1739900"/>
            <a:ext cx="4038600" cy="2298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Pattern complexity = </a:t>
            </a:r>
            <a:r>
              <a:rPr b="1">
                <a:latin typeface="Courier"/>
              </a:rPr>
              <a:t>rowSums(motifs)</a:t>
            </a:r>
            <a:r>
              <a:rPr b="1"/>
              <a:t> per species</a:t>
            </a:r>
            <a:r>
              <a:rPr/>
              <a:t> — the headline number you’ll map onto the tree today.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is phylogenetic signal?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tendency for </a:t>
            </a:r>
            <a:r>
              <a:rPr b="1"/>
              <a:t>closely related species to resemble each other</a:t>
            </a:r>
            <a:r>
              <a:rPr/>
              <a:t> more than distantly related species.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Strong signal</a:t>
            </a:r>
          </a:p>
          <a:p>
            <a:pPr lvl="0" indent="0" marL="0">
              <a:buNone/>
            </a:pPr>
            <a:r>
              <a:rPr/>
              <a:t>Relatives look alike → color patterns evolve slowly</a:t>
            </a:r>
          </a:p>
          <a:p>
            <a:pPr lvl="0" indent="0" marL="0">
              <a:buNone/>
            </a:pPr>
            <a:r>
              <a:rPr i="1"/>
              <a:t>Pattern is “conserved” on the tree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Weak/no signal</a:t>
            </a:r>
          </a:p>
          <a:p>
            <a:pPr lvl="0" indent="0" marL="0">
              <a:buNone/>
            </a:pPr>
            <a:r>
              <a:rPr/>
              <a:t>Relatives look different → color changes fast, convergence is common</a:t>
            </a:r>
          </a:p>
          <a:p>
            <a:pPr lvl="0" indent="0" marL="0">
              <a:buNone/>
            </a:pPr>
            <a:r>
              <a:rPr i="1"/>
              <a:t>Pattern evolves independently of relatedness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 measure this with two statistics: </a:t>
            </a:r>
            <a:r>
              <a:rPr b="1"/>
              <a:t>Blomberg’s K</a:t>
            </a:r>
            <a:r>
              <a:rPr/>
              <a:t> and </a:t>
            </a:r>
            <a:r>
              <a:rPr b="1"/>
              <a:t>Pagel’s λ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Blomberg’s K — what the number means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9100"/>
                <a:gridCol w="52705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Interpretation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K = 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 signal — trait is random on the tree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0 &lt; K &lt; 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Signal exists, but weaker than expected under Brownian motion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K = 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Trait matches Brownian motion prediction exactly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K &gt; 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Relatives are MORE similar than Brownian motion predicts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</a:t>
            </a:r>
            <a:r>
              <a:rPr b="1"/>
              <a:t>p-value</a:t>
            </a:r>
            <a:r>
              <a:rPr/>
              <a:t> tells you if the signal is statistically significant:</a:t>
            </a:r>
          </a:p>
          <a:p>
            <a:pPr lvl="0"/>
            <a:r>
              <a:rPr b="1"/>
              <a:t>p &lt; 0.05</a:t>
            </a:r>
            <a:r>
              <a:rPr/>
              <a:t> → yes, there’s real signal</a:t>
            </a:r>
          </a:p>
          <a:p>
            <a:pPr lvl="0"/>
            <a:r>
              <a:rPr b="1"/>
              <a:t>p &gt; 0.05</a:t>
            </a:r>
            <a:r>
              <a:rPr/>
              <a:t> → can’t distinguish from random</a:t>
            </a:r>
          </a:p>
          <a:p>
            <a:pPr lvl="0" indent="0" marL="0">
              <a:buNone/>
            </a:pPr>
            <a:r>
              <a:rPr b="1"/>
              <a:t>K = 0.16 with p = 0.04</a:t>
            </a:r>
            <a:r>
              <a:rPr/>
              <a:t> → “there IS signal, but it’s modest — color patterns show some phylogenetic conservatism but also a lot of independent change”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contMap — painting traits on the tree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contMap</a:t>
            </a:r>
            <a:r>
              <a:rPr/>
              <a:t> reconstructs ancestral trait values and paints them along every branch.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Cool colors (blue) = </a:t>
            </a:r>
            <a:r>
              <a:rPr b="1"/>
              <a:t>simple</a:t>
            </a:r>
            <a:r>
              <a:rPr/>
              <a:t> patterns</a:t>
            </a:r>
          </a:p>
          <a:p>
            <a:pPr lvl="0"/>
            <a:r>
              <a:rPr/>
              <a:t>Warm colors (red) = </a:t>
            </a:r>
            <a:r>
              <a:rPr b="1"/>
              <a:t>complex</a:t>
            </a:r>
            <a:r>
              <a:rPr/>
              <a:t> patterns</a:t>
            </a:r>
          </a:p>
          <a:p>
            <a:pPr lvl="0"/>
            <a:r>
              <a:rPr/>
              <a:t>You can SEE where on the tree complexity changed</a:t>
            </a:r>
          </a:p>
          <a:p>
            <a:pPr lvl="0"/>
            <a:r>
              <a:rPr/>
              <a:t>Look for </a:t>
            </a:r>
            <a:r>
              <a:rPr b="1"/>
              <a:t>abrupt shifts</a:t>
            </a:r>
            <a:r>
              <a:rPr/>
              <a:t> — those are evolutionary events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You’ll generate one of these in Section 5 of the worksheet.</a:t>
            </a:r>
          </a:p>
          <a:p>
            <a:pPr lvl="0" indent="0" marL="0">
              <a:buNone/>
            </a:pPr>
            <a:r>
              <a:rPr/>
              <a:t>The most complex species? </a:t>
            </a:r>
            <a:r>
              <a:rPr b="1" i="1"/>
              <a:t>Acanthurus bariene</a:t>
            </a:r>
            <a:r>
              <a:rPr/>
              <a:t> — 19 pattern elements!</a:t>
            </a:r>
          </a:p>
          <a:p>
            <a:pPr lvl="0" indent="0" marL="0">
              <a:buNone/>
            </a:pPr>
            <a:r>
              <a:rPr/>
              <a:t>The simplest? </a:t>
            </a:r>
            <a:r>
              <a:rPr b="1" i="1"/>
              <a:t>Zebrasoma rostratum</a:t>
            </a:r>
            <a:r>
              <a:rPr/>
              <a:t> — only 4 elements.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Discrete traits — mapping presence/absence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Not all traits are continuous. Some are </a:t>
            </a:r>
            <a:r>
              <a:rPr b="1"/>
              <a:t>binary</a:t>
            </a:r>
            <a:r>
              <a:rPr/>
              <a:t>: the species either has it or doesn’t.</a:t>
            </a:r>
          </a:p>
          <a:p>
            <a:pPr lvl="0" indent="0" marL="0">
              <a:buNone/>
            </a:pPr>
            <a:r>
              <a:rPr b="1"/>
              <a:t>Example: trunk marbling</a:t>
            </a:r>
            <a:r>
              <a:rPr/>
              <a:t> (irregular worm-like markings)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17 of 62 species have trunk marbling</a:t>
            </a:r>
          </a:p>
          <a:p>
            <a:pPr lvl="0"/>
            <a:r>
              <a:rPr/>
              <a:t>Concentrated in </a:t>
            </a:r>
            <a:r>
              <a:rPr i="1"/>
              <a:t>Acanthurus</a:t>
            </a:r>
            <a:r>
              <a:rPr/>
              <a:t> (11/26) and </a:t>
            </a:r>
            <a:r>
              <a:rPr i="1"/>
              <a:t>Ctenochaetus</a:t>
            </a:r>
            <a:r>
              <a:rPr/>
              <a:t> (3/6)</a:t>
            </a:r>
          </a:p>
          <a:p>
            <a:pPr lvl="0"/>
            <a:r>
              <a:rPr/>
              <a:t>Absent in </a:t>
            </a:r>
            <a:r>
              <a:rPr i="1"/>
              <a:t>Zebrasoma</a:t>
            </a:r>
            <a:r>
              <a:rPr/>
              <a:t>, </a:t>
            </a:r>
            <a:r>
              <a:rPr i="1"/>
              <a:t>Prionurus</a:t>
            </a:r>
            <a:r>
              <a:rPr/>
              <a:t>, </a:t>
            </a:r>
            <a:r>
              <a:rPr i="1"/>
              <a:t>Paracanthurus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Discussion question:</a:t>
            </a:r>
          </a:p>
          <a:p>
            <a:pPr lvl="0" indent="0" marL="0">
              <a:buNone/>
            </a:pPr>
            <a:r>
              <a:rPr/>
              <a:t>Is marbling a Turing pattern?</a:t>
            </a:r>
          </a:p>
          <a:p>
            <a:pPr lvl="0" indent="0" marL="0">
              <a:buNone/>
            </a:pPr>
            <a:r>
              <a:rPr/>
              <a:t>Think back to Lecture 12 — reaction-diffusion produces labyrinthine patterns that look a lot like “marbling.”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You’ll color tree tips by marbling presence and ask: how many times did it evolve?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workflow — what you’ll do today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7600"/>
                <a:gridCol w="1689100"/>
                <a:gridCol w="2425700"/>
                <a:gridCol w="2997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 you 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 you learn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§1–2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Load tree + plot it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How a phylogeny looks in 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§3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Load color data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 coded pattern traits look like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§4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Match tree ↔ data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The “golden rule” of comparative methods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§5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Create complexity score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Summarizing many traits into one number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§6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contMap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Painting a trait on the tree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§7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Blomberg’s K + Pagel’s λ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Testing phylogenetic signal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§8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Map trunk marbling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Discrete traits on a tree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§9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Pick your own trait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Independent analysis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~60 minutes of guided work, then 15 minutes on your own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you’ll turn 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Screenshot</a:t>
            </a:r>
            <a:r>
              <a:rPr/>
              <a:t> of your contMap (pattern complexity on the tree)</a:t>
            </a:r>
          </a:p>
          <a:p>
            <a:pPr lvl="0" indent="-342900" marL="342900">
              <a:buAutoNum type="arabicPeriod"/>
            </a:pPr>
            <a:r>
              <a:rPr b="1"/>
              <a:t>Your K and λ values</a:t>
            </a:r>
            <a:r>
              <a:rPr/>
              <a:t> with a one-sentence interpretation each</a:t>
            </a:r>
          </a:p>
          <a:p>
            <a:pPr lvl="0" indent="-342900" marL="342900">
              <a:buAutoNum type="arabicPeriod"/>
            </a:pPr>
            <a:r>
              <a:rPr b="1"/>
              <a:t>Your chosen trait</a:t>
            </a:r>
            <a:r>
              <a:rPr/>
              <a:t> from “Your Turn” — which trait did you pick? What was K? Was it significant?</a:t>
            </a:r>
          </a:p>
          <a:p>
            <a:pPr lvl="0" indent="-342900" marL="342900">
              <a:buAutoNum type="arabicPeriod"/>
            </a:pPr>
            <a:r>
              <a:rPr b="1"/>
              <a:t>One paragraph</a:t>
            </a:r>
            <a:r>
              <a:rPr/>
              <a:t>: “Is color pattern diversity phylogenetically conserved in surgeonfishes? Why or why not?”</a:t>
            </a:r>
          </a:p>
          <a:p>
            <a:pPr lvl="0" indent="0" marL="0">
              <a:buNone/>
            </a:pPr>
            <a:r>
              <a:rPr/>
              <a:t>There is no single “right answer” — we want a </a:t>
            </a:r>
            <a:r>
              <a:rPr b="1"/>
              <a:t>nuanced</a:t>
            </a:r>
            <a:r>
              <a:rPr/>
              <a:t> interpretation backed by your data.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Getting started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Open </a:t>
            </a:r>
            <a:r>
              <a:rPr b="1"/>
              <a:t>RStudio</a:t>
            </a:r>
          </a:p>
          <a:p>
            <a:pPr lvl="0" indent="-342900" marL="342900">
              <a:buAutoNum type="arabicPeriod"/>
            </a:pPr>
            <a:r>
              <a:rPr/>
              <a:t>Set your working directory:</a:t>
            </a:r>
          </a:p>
          <a:p>
            <a:pPr lvl="1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setwd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"path/to/demo-labrid-pcm-week8"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-342900" marL="342900">
              <a:buAutoNum type="arabicPeriod"/>
            </a:pPr>
            <a:r>
              <a:rPr/>
              <a:t>Open the worksheet: </a:t>
            </a:r>
            <a:r>
              <a:rPr>
                <a:latin typeface="Courier"/>
              </a:rPr>
              <a:t>demo7-worksheet.qmd</a:t>
            </a:r>
            <a:r>
              <a:rPr/>
              <a:t> (or the HTML version in your browser)</a:t>
            </a:r>
          </a:p>
          <a:p>
            <a:pPr lvl="0" indent="-342900" marL="342900">
              <a:buAutoNum type="arabicPeriod"/>
            </a:pPr>
            <a:r>
              <a:rPr/>
              <a:t>Work through it </a:t>
            </a:r>
            <a:r>
              <a:rPr b="1"/>
              <a:t>section by section</a:t>
            </a:r>
            <a:r>
              <a:rPr/>
              <a:t> — don’t skip ahead</a:t>
            </a:r>
          </a:p>
          <a:p>
            <a:pPr lvl="0" indent="-342900" marL="342900">
              <a:buAutoNum type="arabicPeriod"/>
            </a:pPr>
            <a:r>
              <a:rPr b="1"/>
              <a:t>Talk to your neighbor.</a:t>
            </a:r>
            <a:r>
              <a:rPr/>
              <a:t> If you’re stuck, ask. If you’re not stuck, explain what you’re seeing.</a:t>
            </a:r>
          </a:p>
          <a:p>
            <a:pPr lvl="0" indent="0" marL="0">
              <a:buNone/>
            </a:pPr>
            <a:r>
              <a:rPr b="1"/>
              <a:t>Let’s go!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Demo 7 — Mapping Color Patterns onto a Phylogeny</dc:title>
  <dc:creator>Week 8 Demo Section</dc:creator>
  <cp:keywords/>
  <dcterms:created xsi:type="dcterms:W3CDTF">2026-05-12T18:04:56Z</dcterms:created>
  <dcterms:modified xsi:type="dcterms:W3CDTF">2026-05-12T18:04:56Z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date">
    <vt:lpwstr>2026-05-20</vt:lpwstr>
  </property>
  <property fmtid="{D5CDD505-2E9C-101B-9397-08002B2CF9AE}" pid="6" name="engines">
    <vt:lpwstr/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labels">
    <vt:lpwstr/>
  </property>
  <property fmtid="{D5CDD505-2E9C-101B-9397-08002B2CF9AE}" pid="11" name="subtitle">
    <vt:lpwstr>EEB 187: Ecology and Evolution of Color</vt:lpwstr>
  </property>
  <property fmtid="{D5CDD505-2E9C-101B-9397-08002B2CF9AE}" pid="12" name="toc-title">
    <vt:lpwstr>Table of contents</vt:lpwstr>
  </property>
</Properties>
</file>